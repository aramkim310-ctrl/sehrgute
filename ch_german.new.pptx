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notesMaster" Target="notesMasters/notesMaster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독일의 크리스마스인 바이나흐텐(Weihnachten)은 복수형 명칭에서 알 수 있듯이 한 달 이상의 긴 기간을 포괄하는 문화적 개념입니다. 이는 단순한 종교 행사를 넘어 독일인들이 척박한 겨울 날씨를 견디게 하는 정서적 버팀목이자 가족 공동체의 결속을 다지는 가장 큰 명절입니다.</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대림절(Advent)은 독일 크리스마스 시즌의 실질적인 시작을 알리는 기간입니다. 4주 동안 네 번의 일요일을 거치며 성탄을 준비하는데, 이 시기에는 평소보다 지인들과의 교류가 활발해지며 소박한 선물을 주고받는 ‘기브 앤 테이크’ 없는 순수한 나눔이 강조됩니다.</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아트펜트 화환(Adventskranz)은 대림절 기간의 경과를 시각적으로 보여주는 중요한 상징물입니다. 네 개의 양초는 성탄까지 남은 주차를 의미하며, 매주 일요일 초를 하나씩 더 켜며 가족들이 성경을 읽거나 나만의 명상 의식을 갖는 시간을 통해 심리적 평온을 얻습니다.</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아트펜트 캘린더(Adventskalender)는 성탄절을 기다리는 아이들에게 매일 작은 보상을 제공하는 풍습입니다. 1부터 24까지의 숫자가 적힌 창문을 매일 하나씩 열며 그 속의 초콜릿을 먹는 행위는 기다림의 미학을 가르쳐주며, 현대에는 성인들을 위한 취미 영역으로도 확장되고 있습니다.</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독일의 성 니콜라우스 데이는 12월 6일로, 미국식 산타클로스 방문일과는 차이가 있습니다. 4세기의 자선가 성 니콜라우스를 기리며, 아이들은 부츠를 닦아 선물을 기다리고 어른들은 직접 만든 쿠키나 과일을 나누며 지역 공동체의 유대감을 확인하는 따뜻한 사례를 보여줍니다.</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독일 크리스마스 마켓(Weihnachtsmarkt)은 11월 말부터 시작되어 도시 전체를 축제 분위기로 만듭니다. 기술적으로는 종교적 애도 기간인 토텐존타크 이후에 문을 열며, 단순한 시장을 넘어 겨울의 정취를 만끽하고 지역 수공예품을 소비하는 문화적 교류의 장으로서 기능합니다.</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슈뱅커(Schwenker)는 독일 크리스마스 마켓에서 가장 흔히 볼 수 있는 소시지 구이 방식입니다. 광부들의 지혜가 담긴 회전 그릴은 음식을 고르게 익힐 뿐만 아니라, 화려한 불쇼와 같은 시각적 효과를 통해 방문객들에게 대기 시간마저 즐거운 경험으로 만들어주는 실무적 마케팅 사례이기도 합니다.</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라이베쿠흔(Reiberkuchen)은 독일의 국민 식재료인 감자를 활용한 대표적인 겨울 음식입니다. 기름진 튀김의 맛과 상큼한 사과 소스의 조화는 추운 날씨에 체온을 유지해주는 고칼로리 영양원이 되며, 독일인들에게는 어린 시절의 향수를 자극하는 소울 푸드와 같은 역할을 합니다.</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독일의 군밤(Geröstete Maronen)은 세련된 요리는 아니지만 크리스마스 마켓의 서정성을 완성하는 요소입니다. 어릴 적 추억을 소환하는 도구로서, 현대인들에게는 따뜻한 온기와 정을 나누는 매개체로 작용하며 마켓의 정겨운 풍경을 만들어냅니다.</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라클래트(Raclette)는 단순한 재료가 만들어내는 최고의 맛을 보여주는 사례입니다. 커다란 통치즈가 녹아내리는 과정은 그 자체로 훌륭한 볼거리가 되며, 따뜻하고 꾸덕한 치즈와 바삭한 빵의 조화는 독일의 추운 겨울밤을 잊게 만드는 마켓의 백미 중 하나입니다.</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플램락스(Flammlacks)는 마켓 음식 중에서도 고가에 속하는 프리미엄 요리입니다. 장작불을 이용한 전통적인 조리 방식은 시각적인 즐거움과 은은한 훈연 향을 동시에 제공하며, 특히 건강과 품질을 중시하는 현대 소비자들에게 작은 사치를 즐길 수 있는 특별한 기회를 제공합니다.</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글뤼바인(Glühwein)은 독일 크리스마스 마켓의 상징과도 같습니다. 특히 컵 보증금 시스템(Pfand)은 실무적으로 효율적인 폐기물 관리 방식인 동시에, 방문객들이 예쁜 머그컵을 기념품으로 소장하게 함으로써 마켓의 브랜딩 효과를 높이는 훌륭한 사례가 됩니다.</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슈톨렌(Stollen)은 독일 크리스마스의 정통성을 보여주는 빵입니다. 숙성될수록 맛이 좋아지는 특성 덕분에 한 달 내내 조금씩 나눠 먹으며 성탄을 기다리는 인내의 미학을 담고 있습니다. 또한 드레스덴 지역의 슈톨렌은 역사적 자부심이 매우 높은 대표적 로컬 푸드입니다.</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렙쿠헨(Lebkuchen)은 독일의 성탄절을 대표하는 과자입니다. 꿀과 향신료가 어우러진 독특한 풍미는 독일인들에게 성탄의 향기 그 자체로 인식되며, 튼튼한 보존성 덕분에 겨울철 내내 가정에서 즐기거나 멀리 있는 지인에게 선물하기에 매우 적합한 제품입니다.</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크리스마스 피라미드(Weihnachtspyramide)는 독일의 정교한 목공예 기술을 보여주는 예술품입니다. 특히 에르츠 산맥 광부들의 역사적 배경을 담고 있으며, 밤이면 화려한 조명과 함께 천천히 돌아가는 모습은 독일 크리스마스 마켓만의 평화롭고 신비로운 분위기를 극대화하는 요소입니다.</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호두까기 인형(Nussknacker)은 단순한 장난감을 넘어 독일 수공예의 자부심입니다. 악령으로부터 보호한다는 수호신의 의미를 담아 제작되었으며, 현재는 전통적인 병사 형태부터 최신 캐릭터까지 다양한 버전으로 진화하며 전 세계 소비자들의 사랑을 받는 문화 수출 품목이 되었습니다.</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실무 교육 측면에서 독일 호두까기 인형 제조사의 사례는 글로벌 정치 경제의 변화가 전통 산업에 미치는 영향을 잘 보여줍니다. 관세와 정책 변화에 맞서 현지 물류 거점을 마련하고, 고객의 충성심을 바탕으로 위기를 돌파하려는 전략적 시사점을 제공합니다.</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독일의 12월 24일은 철저히 가족 중심의 명절입니다. 미국과 달리 이브 저녁에 선물을 개봉하며, 가장의 주도하에 환상적인 성탄의 밤을 연출합니다. 이 시기 독일 사회는 모든 상업 활동을 멈추고 종교적 경건함과 가족 간의 유대에 집중하는 모습을 보입니다.</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독일 크리스마스는 로맨틱한 풍습과 고전적인 음악이 어우러진 시기입니다. 겨우살이 아래에서의 키스는 마켓의 낭만을 더해주며, 미국식 상업 캐럴보다는 깊이 있는 전통 성가를 즐김으로써 독일인들만의 정체성과 종교적 문화유산을 계승하고 있습니다.</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독일 크리스마스 문화는 전통에만 머물지 않고 현대적인 다양성을 수용하고 있습니다. 특히 한국의 장인 정신과 미식이 접목된 프리미엄 소주나 인삼 음료 등은 마켓의 국제적인 위상을 높여주며, 독일인들에게도 새로운 문화적 경험을 선사하는 긍정적인 실무 사례가 되고 있습니다.</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7.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9.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바이나흐텐</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독일 크리스마스의 정의와 의미</a:t>
            </a:r>
          </a:p>
        </p:txBody>
      </p:sp>
      <p:sp>
        <p:nvSpPr>
          <p:cNvPr id="3" name="Content Placeholder 2"/>
          <p:cNvSpPr>
            <a:spLocks noGrp="1"/>
          </p:cNvSpPr>
          <p:nvPr>
            <p:ph idx="1"/>
          </p:nvPr>
        </p:nvSpPr>
        <p:spPr/>
        <p:txBody>
          <a:bodyPr/>
          <a:lstStyle/>
          <a:p>
            <a:pPr lvl="0"/>
            <a:r>
              <a:rPr/>
              <a:t>성탄절을 ’신성한 밤들’이라는 뜻의 바이나흐텐이라는 복수형 명칭으로 지칭</a:t>
            </a:r>
          </a:p>
          <a:p>
            <a:pPr lvl="0"/>
            <a:r>
              <a:rPr/>
              <a:t>일회성 행사가 아닌 12월 내내 이어지는 긴 축제 기간으로 문화를 정의</a:t>
            </a:r>
          </a:p>
          <a:p>
            <a:pPr lvl="0"/>
            <a:r>
              <a:rPr/>
              <a:t>어둡고 칙칙한 독일의 겨울을 따뜻하게 밝히는 정서적 중심점으로서의 역할</a:t>
            </a:r>
          </a:p>
          <a:p>
            <a:pPr lvl="0"/>
            <a:r>
              <a:rPr/>
              <a:t>가족들이 함께 모여 명절 음식을 준비하며 유대를 다지는 소중한 시간</a:t>
            </a:r>
          </a:p>
          <a:p>
            <a:pPr lvl="0"/>
            <a:r>
              <a:rPr/>
              <a:t>쳇바퀴 도는 일상과 겨울의 우울함을 물리치는 마법 같은 시즌의 힘</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대림절</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성탄을 기다리는 네 번의 일요일</a:t>
            </a:r>
          </a:p>
        </p:txBody>
      </p:sp>
      <p:sp>
        <p:nvSpPr>
          <p:cNvPr id="4" name="Text Placeholder 3"/>
          <p:cNvSpPr>
            <a:spLocks noGrp="1"/>
          </p:cNvSpPr>
          <p:nvPr>
            <p:ph idx="2" sz="half" type="body"/>
          </p:nvPr>
        </p:nvSpPr>
        <p:spPr/>
        <p:txBody>
          <a:bodyPr/>
          <a:lstStyle/>
          <a:p>
            <a:pPr lvl="0"/>
            <a:r>
              <a:rPr/>
              <a:t>성탄 전 4주간을 의미하며 독일어로 아트펜트라고 불리는 종교적 준비 기간</a:t>
            </a:r>
          </a:p>
          <a:p>
            <a:pPr lvl="0"/>
            <a:r>
              <a:rPr/>
              <a:t>크리스마스 전 네 번째 일요일부터 시작하여 성탄절까지 이어지는 일정 구성</a:t>
            </a:r>
          </a:p>
          <a:p>
            <a:pPr lvl="0"/>
            <a:r>
              <a:rPr/>
              <a:t>매주 일요일마다 가족들이 모여 차를 마시고 대화를 나누는 정겨운 풍습</a:t>
            </a:r>
          </a:p>
          <a:p>
            <a:pPr lvl="0"/>
            <a:r>
              <a:rPr/>
              <a:t>한 해를 마무리하며 못 만났던 지인들과의 약속이 폭발적으로 늘어나는 시기</a:t>
            </a:r>
          </a:p>
          <a:p>
            <a:pPr lvl="0"/>
            <a:r>
              <a:rPr/>
              <a:t>5~10유로 사이의 작은 선물이나 엽서를 주고받으며 정을 나누는 문화</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구분</a:t>
                      </a:r>
                    </a:p>
                  </a:txBody>
                  <a:tcPr/>
                </a:tc>
                <a:tc>
                  <a:txBody>
                    <a:bodyPr/>
                    <a:lstStyle/>
                    <a:p>
                      <a:pPr lvl="0" indent="0" marL="0" algn="l">
                        <a:buNone/>
                      </a:pPr>
                      <a:r>
                        <a:rPr/>
                        <a:t>주요 일정 및 활동</a:t>
                      </a:r>
                    </a:p>
                  </a:txBody>
                  <a:tcPr/>
                </a:tc>
                <a:tc>
                  <a:txBody>
                    <a:bodyPr/>
                    <a:lstStyle/>
                    <a:p>
                      <a:pPr lvl="0" indent="0" marL="0" algn="l">
                        <a:buNone/>
                      </a:pPr>
                      <a:r>
                        <a:rPr/>
                        <a:t>비고</a:t>
                      </a:r>
                    </a:p>
                  </a:txBody>
                  <a:tcPr/>
                </a:tc>
              </a:tr>
              <a:tr h="0">
                <a:tc>
                  <a:txBody>
                    <a:bodyPr/>
                    <a:lstStyle/>
                    <a:p>
                      <a:pPr lvl="0" indent="0" marL="0" algn="l">
                        <a:buNone/>
                      </a:pPr>
                      <a:r>
                        <a:rPr/>
                        <a:t>시작일</a:t>
                      </a:r>
                    </a:p>
                  </a:txBody>
                </a:tc>
                <a:tc>
                  <a:txBody>
                    <a:bodyPr/>
                    <a:lstStyle/>
                    <a:p>
                      <a:pPr lvl="0" indent="0" marL="0" algn="l">
                        <a:buNone/>
                      </a:pPr>
                      <a:r>
                        <a:rPr/>
                        <a:t>성탄 전 4번째 일요일</a:t>
                      </a:r>
                    </a:p>
                  </a:txBody>
                </a:tc>
                <a:tc>
                  <a:txBody>
                    <a:bodyPr/>
                    <a:lstStyle/>
                    <a:p>
                      <a:pPr lvl="0" indent="0" marL="0" algn="l">
                        <a:buNone/>
                      </a:pPr>
                      <a:r>
                        <a:rPr/>
                        <a:t>매년 날짜가 유동적임</a:t>
                      </a:r>
                    </a:p>
                  </a:txBody>
                </a:tc>
              </a:tr>
              <a:tr h="0">
                <a:tc>
                  <a:txBody>
                    <a:bodyPr/>
                    <a:lstStyle/>
                    <a:p>
                      <a:pPr lvl="0" indent="0" marL="0" algn="l">
                        <a:buNone/>
                      </a:pPr>
                      <a:r>
                        <a:rPr/>
                        <a:t>주요 활동</a:t>
                      </a:r>
                    </a:p>
                  </a:txBody>
                </a:tc>
                <a:tc>
                  <a:txBody>
                    <a:bodyPr/>
                    <a:lstStyle/>
                    <a:p>
                      <a:pPr lvl="0" indent="0" marL="0" algn="l">
                        <a:buNone/>
                      </a:pPr>
                      <a:r>
                        <a:rPr/>
                        <a:t>가족 모임 및 지인 방문</a:t>
                      </a:r>
                    </a:p>
                  </a:txBody>
                </a:tc>
                <a:tc>
                  <a:txBody>
                    <a:bodyPr/>
                    <a:lstStyle/>
                    <a:p>
                      <a:pPr lvl="0" indent="0" marL="0" algn="l">
                        <a:buNone/>
                      </a:pPr>
                      <a:r>
                        <a:rPr/>
                        <a:t>선물 교환 문화 동반</a:t>
                      </a:r>
                    </a:p>
                  </a:txBody>
                </a:tc>
              </a:tr>
              <a:tr h="0">
                <a:tc>
                  <a:txBody>
                    <a:bodyPr/>
                    <a:lstStyle/>
                    <a:p>
                      <a:pPr lvl="0" indent="0" marL="0" algn="l">
                        <a:buNone/>
                      </a:pPr>
                      <a:r>
                        <a:rPr/>
                        <a:t>상징 의미</a:t>
                      </a:r>
                    </a:p>
                  </a:txBody>
                </a:tc>
                <a:tc>
                  <a:txBody>
                    <a:bodyPr/>
                    <a:lstStyle/>
                    <a:p>
                      <a:pPr lvl="0" indent="0" marL="0" algn="l">
                        <a:buNone/>
                      </a:pPr>
                      <a:r>
                        <a:rPr/>
                        <a:t>예수 탄생을 기다리는 경건함</a:t>
                      </a:r>
                    </a:p>
                  </a:txBody>
                </a:tc>
                <a:tc>
                  <a:txBody>
                    <a:bodyPr/>
                    <a:lstStyle/>
                    <a:p>
                      <a:pPr lvl="0" indent="0" marL="0" algn="l">
                        <a:buNone/>
                      </a:pPr>
                      <a:r>
                        <a:rPr/>
                        <a:t>대림절 시리즈 제품 소비</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아트펜트 화환</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빛으로 밝히는 기다림의 상징</a:t>
            </a:r>
          </a:p>
        </p:txBody>
      </p:sp>
      <p:sp>
        <p:nvSpPr>
          <p:cNvPr id="3" name="Content Placeholder 2"/>
          <p:cNvSpPr>
            <a:spLocks noGrp="1"/>
          </p:cNvSpPr>
          <p:nvPr>
            <p:ph idx="1"/>
          </p:nvPr>
        </p:nvSpPr>
        <p:spPr/>
        <p:txBody>
          <a:bodyPr/>
          <a:lstStyle/>
          <a:p>
            <a:pPr lvl="0"/>
            <a:r>
              <a:rPr/>
              <a:t>전나무 잎으로 만든 녹색 화환에 네 개의 초를 꽂아 장식하는 전통</a:t>
            </a:r>
          </a:p>
          <a:p>
            <a:pPr lvl="0"/>
            <a:r>
              <a:rPr/>
              <a:t>매주 일요일마다 하나씩 초를 추가로 켜며 성탄의 빛을 확장하는 의식</a:t>
            </a:r>
          </a:p>
          <a:p>
            <a:pPr lvl="0"/>
            <a:r>
              <a:rPr/>
              <a:t>루터교 관습에서 시작되어 현재는 다양한 기독교 교파로 퍼진 보편적 문화</a:t>
            </a:r>
          </a:p>
          <a:p>
            <a:pPr lvl="0"/>
            <a:r>
              <a:rPr/>
              <a:t>솔방울, 시나몬 스틱, 말린 과일 등을 활용한 소박하고 자연적인 장식</a:t>
            </a:r>
          </a:p>
          <a:p>
            <a:pPr lvl="0"/>
            <a:r>
              <a:rPr/>
              <a:t>꽃집에서 완제품을 사거나 재료를 직접 구입해 제작하는 핸드메이드 열풍</a:t>
            </a:r>
          </a:p>
          <a:p>
            <a:pPr lvl="0" indent="0" marL="0">
              <a:buNone/>
            </a:pPr>
            <a:r>
              <a:rPr/>
              <a:t>[준비] -&gt; [1주차: 초 1개] -&gt; [2주차: 초 2개] -&gt; [3주차: 초 3개] -&gt; [4주차: 초 4개]</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아트펜트 캘린더</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매일 하나씩 열어보는 기쁨</a:t>
            </a:r>
          </a:p>
        </p:txBody>
      </p:sp>
      <p:sp>
        <p:nvSpPr>
          <p:cNvPr id="3" name="Content Placeholder 2"/>
          <p:cNvSpPr>
            <a:spLocks noGrp="1"/>
          </p:cNvSpPr>
          <p:nvPr>
            <p:ph idx="1"/>
          </p:nvPr>
        </p:nvSpPr>
        <p:spPr/>
        <p:txBody>
          <a:bodyPr/>
          <a:lstStyle/>
          <a:p>
            <a:pPr lvl="0"/>
            <a:r>
              <a:rPr/>
              <a:t>12월 1일부터 24일까지 매일 숫자 창을 열어 선물을 확인하는 달력</a:t>
            </a:r>
          </a:p>
          <a:p>
            <a:pPr lvl="0"/>
            <a:r>
              <a:rPr/>
              <a:t>창문 안에는 주로 초콜릿이 들어있어 아이들의 인내심과 즐거움을 자극</a:t>
            </a:r>
          </a:p>
          <a:p>
            <a:pPr lvl="0"/>
            <a:r>
              <a:rPr/>
              <a:t>24일에는 성탄 전날을 기념하여 가장 크고 맛있는 선물을 배치하는 관례</a:t>
            </a:r>
          </a:p>
          <a:p>
            <a:pPr lvl="0"/>
            <a:r>
              <a:rPr/>
              <a:t>최근에는 어른들을 위한 차 세트나 화장품 등 다양한 스페셜티 제품 인기</a:t>
            </a:r>
          </a:p>
          <a:p>
            <a:pPr lvl="0"/>
            <a:r>
              <a:rPr/>
              <a:t>숫자가 순서 없이 섞여 있어 당일의 숫자를 찾는 소소한 재미 요소 제공</a:t>
            </a:r>
          </a:p>
          <a:p>
            <a:pPr lvl="0" indent="0">
              <a:buNone/>
            </a:pPr>
            <a:r>
              <a:rPr>
                <a:latin typeface="Courier"/>
              </a:rPr>
              <a:t>[ 1] [ 2] [ 3] [ 4] [ 5] [ 6] 
[ 7] [ 8] [ 9] 
 [24!]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니콜라우스 데이</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12월 6일의 선물과 나눔</a:t>
            </a:r>
          </a:p>
        </p:txBody>
      </p:sp>
      <p:sp>
        <p:nvSpPr>
          <p:cNvPr id="4" name="Text Placeholder 3"/>
          <p:cNvSpPr>
            <a:spLocks noGrp="1"/>
          </p:cNvSpPr>
          <p:nvPr>
            <p:ph idx="2" sz="half" type="body"/>
          </p:nvPr>
        </p:nvSpPr>
        <p:spPr/>
        <p:txBody>
          <a:bodyPr/>
          <a:lstStyle/>
          <a:p>
            <a:pPr lvl="0"/>
            <a:r>
              <a:rPr/>
              <a:t>12월 6일 새벽에 성 니콜라우스가 착한 아이들에게 선물을 주는 기념일</a:t>
            </a:r>
          </a:p>
          <a:p>
            <a:pPr lvl="0"/>
            <a:r>
              <a:rPr/>
              <a:t>아이들이 12월 5일 저녁에 부츠를 깨끗이 닦아 문 앞에 내놓는 관습</a:t>
            </a:r>
          </a:p>
          <a:p>
            <a:pPr lvl="0"/>
            <a:r>
              <a:rPr/>
              <a:t>4세기 기독교 주교인 성 니콜라우스의 자선 활동에서 유래한 유서 깊은 전통</a:t>
            </a:r>
          </a:p>
          <a:p>
            <a:pPr lvl="0"/>
            <a:r>
              <a:rPr/>
              <a:t>초콜릿, 쿠키, 사과 같은 가벼운 선물을 이웃 및 지인과 주고받는 시기</a:t>
            </a:r>
          </a:p>
          <a:p>
            <a:pPr lvl="0"/>
            <a:r>
              <a:rPr/>
              <a:t>우리가 흔히 아는 산타클로스의 실질적인 원형이 되는 인물과 풍습</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예시 사례: 이웃 간의 나눔</a:t>
                      </a:r>
                    </a:p>
                  </a:txBody>
                  <a:tcPr/>
                </a:tc>
                <a:tc>
                  <a:txBody>
                    <a:bodyPr/>
                    <a:lstStyle/>
                    <a:p>
                      <a:pPr lvl="0" indent="0" marL="0" algn="l">
                        <a:buNone/>
                      </a:pPr>
                      <a:r>
                        <a:rPr/>
                        <a:t>내용 요약</a:t>
                      </a:r>
                    </a:p>
                  </a:txBody>
                  <a:tcPr/>
                </a:tc>
              </a:tr>
              <a:tr h="0">
                <a:tc>
                  <a:txBody>
                    <a:bodyPr/>
                    <a:lstStyle/>
                    <a:p>
                      <a:pPr lvl="0" indent="0" marL="0" algn="l">
                        <a:buNone/>
                      </a:pPr>
                      <a:r>
                        <a:rPr/>
                        <a:t>직접 구운 플레첸</a:t>
                      </a:r>
                    </a:p>
                  </a:txBody>
                </a:tc>
                <a:tc>
                  <a:txBody>
                    <a:bodyPr/>
                    <a:lstStyle/>
                    <a:p>
                      <a:pPr lvl="0" indent="0" marL="0" algn="l">
                        <a:buNone/>
                      </a:pPr>
                      <a:r>
                        <a:rPr/>
                        <a:t>이웃이 직접 만든 버터 쿠키를 문 앞에 두고 감</a:t>
                      </a:r>
                    </a:p>
                  </a:txBody>
                </a:tc>
              </a:tr>
              <a:tr h="0">
                <a:tc>
                  <a:txBody>
                    <a:bodyPr/>
                    <a:lstStyle/>
                    <a:p>
                      <a:pPr lvl="0" indent="0" marL="0" algn="l">
                        <a:buNone/>
                      </a:pPr>
                      <a:r>
                        <a:rPr/>
                        <a:t>부츠 위 사과 한 알</a:t>
                      </a:r>
                    </a:p>
                  </a:txBody>
                </a:tc>
                <a:tc>
                  <a:txBody>
                    <a:bodyPr/>
                    <a:lstStyle/>
                    <a:p>
                      <a:pPr lvl="0" indent="0" marL="0" algn="l">
                        <a:buNone/>
                      </a:pPr>
                      <a:r>
                        <a:rPr/>
                        <a:t>깨끗한 사과를 장화 위에 올려 이웃의 정을 표현</a:t>
                      </a:r>
                    </a:p>
                  </a:txBody>
                </a:tc>
              </a:tr>
              <a:tr h="0">
                <a:tc>
                  <a:txBody>
                    <a:bodyPr/>
                    <a:lstStyle/>
                    <a:p>
                      <a:pPr lvl="0" indent="0" marL="0" algn="l">
                        <a:buNone/>
                      </a:pPr>
                      <a:r>
                        <a:rPr/>
                        <a:t>오나먼트 선물</a:t>
                      </a:r>
                    </a:p>
                  </a:txBody>
                </a:tc>
                <a:tc>
                  <a:txBody>
                    <a:bodyPr/>
                    <a:lstStyle/>
                    <a:p>
                      <a:pPr lvl="0" indent="0" marL="0" algn="l">
                        <a:buNone/>
                      </a:pPr>
                      <a:r>
                        <a:rPr/>
                        <a:t>크리스마스 트리 장식물을 선물 꾸러미에 담아 전달</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크리스마스 마켓</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겨울의 우울함을 물리치는 마법</a:t>
            </a:r>
          </a:p>
        </p:txBody>
      </p:sp>
      <p:sp>
        <p:nvSpPr>
          <p:cNvPr id="3" name="Content Placeholder 2"/>
          <p:cNvSpPr>
            <a:spLocks noGrp="1"/>
          </p:cNvSpPr>
          <p:nvPr>
            <p:ph idx="1"/>
          </p:nvPr>
        </p:nvSpPr>
        <p:spPr/>
        <p:txBody>
          <a:bodyPr/>
          <a:lstStyle/>
          <a:p>
            <a:pPr lvl="0"/>
            <a:r>
              <a:rPr/>
              <a:t>죽은 자들의 일요일인 토텐존타크 다음 날부터 일제히 개장하는 장터</a:t>
            </a:r>
          </a:p>
          <a:p>
            <a:pPr lvl="0"/>
            <a:r>
              <a:rPr/>
              <a:t>화려한 불빛과 경쾌한 음악이 어우러져 동화 속 같은 풍경을 연출하는 공간</a:t>
            </a:r>
          </a:p>
          <a:p>
            <a:pPr lvl="0"/>
            <a:r>
              <a:rPr/>
              <a:t>장인들이 직접 만든 목각 인형, 향초, 액세서리 등을 판매하는 지역 상업 중심지</a:t>
            </a:r>
          </a:p>
          <a:p>
            <a:pPr lvl="0"/>
            <a:r>
              <a:rPr/>
              <a:t>오감의 즐거움과 상승 작용을 일으켜 사람들을 밖으로 이끄는 강력한 매력</a:t>
            </a:r>
          </a:p>
          <a:p>
            <a:pPr lvl="0"/>
            <a:r>
              <a:rPr/>
              <a:t>최근 관광객의 취향에 맞춰 전 세계 다양한 길거리 음식이 등장하며 진화 중</a:t>
            </a:r>
          </a:p>
          <a:p>
            <a:pPr lvl="0" indent="0" marL="0">
              <a:buNone/>
            </a:pPr>
            <a:r>
              <a:rPr/>
              <a:t>[개장 준비] -&gt; [토텐존타크 엄수] -&gt; [마켓 오픈] -&gt; [글뤼바인 시음]</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슈뱅커와 소시지</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회전 그릴에서 구워지는 정통의 맛</a:t>
            </a:r>
          </a:p>
        </p:txBody>
      </p:sp>
      <p:sp>
        <p:nvSpPr>
          <p:cNvPr id="4" name="Text Placeholder 3"/>
          <p:cNvSpPr>
            <a:spLocks noGrp="1"/>
          </p:cNvSpPr>
          <p:nvPr>
            <p:ph idx="2" sz="half" type="body"/>
          </p:nvPr>
        </p:nvSpPr>
        <p:spPr/>
        <p:txBody>
          <a:bodyPr/>
          <a:lstStyle/>
          <a:p>
            <a:pPr lvl="0"/>
            <a:r>
              <a:rPr/>
              <a:t>삼각대에 매달린 커다란 회전 그릴 위에서 소시지를 굽는 방식의 요리</a:t>
            </a:r>
          </a:p>
          <a:p>
            <a:pPr lvl="0"/>
            <a:r>
              <a:rPr/>
              <a:t>화염 위에서 그릴을 흔들며 구워 열이 고르게 가해지고 숯불 향이 베임</a:t>
            </a:r>
          </a:p>
          <a:p>
            <a:pPr lvl="0"/>
            <a:r>
              <a:rPr/>
              <a:t>잘란트 지방의 광부들이 처음 제작하여 사용한 역사를 가진 전통 조리법</a:t>
            </a:r>
          </a:p>
          <a:p>
            <a:pPr lvl="0"/>
            <a:r>
              <a:rPr/>
              <a:t>바삭한 롤 빵 속에 소시지를 넣고 겨자나 케첩을 뿌려 먹는 대중적 음식</a:t>
            </a:r>
          </a:p>
          <a:p>
            <a:pPr lvl="0"/>
            <a:r>
              <a:rPr/>
              <a:t>소시지가 구워지는 과정을 지켜보는 ’불구경’의 본질적인 즐거움 제공</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소시지 종류</a:t>
                      </a:r>
                    </a:p>
                  </a:txBody>
                  <a:tcPr/>
                </a:tc>
                <a:tc>
                  <a:txBody>
                    <a:bodyPr/>
                    <a:lstStyle/>
                    <a:p>
                      <a:pPr lvl="0" indent="0" marL="0" algn="l">
                        <a:buNone/>
                      </a:pPr>
                      <a:r>
                        <a:rPr/>
                        <a:t>특징 요약</a:t>
                      </a:r>
                    </a:p>
                  </a:txBody>
                  <a:tcPr/>
                </a:tc>
              </a:tr>
              <a:tr h="0">
                <a:tc>
                  <a:txBody>
                    <a:bodyPr/>
                    <a:lstStyle/>
                    <a:p>
                      <a:pPr lvl="0" indent="0" marL="0" algn="l">
                        <a:buNone/>
                      </a:pPr>
                      <a:r>
                        <a:rPr/>
                        <a:t>뉘른베르크</a:t>
                      </a:r>
                    </a:p>
                  </a:txBody>
                </a:tc>
                <a:tc>
                  <a:txBody>
                    <a:bodyPr/>
                    <a:lstStyle/>
                    <a:p>
                      <a:pPr lvl="0" indent="0" marL="0" algn="l">
                        <a:buNone/>
                      </a:pPr>
                      <a:r>
                        <a:rPr/>
                        <a:t>한입 크기의 작은 사이즈로 여러 개를 먹는 재미</a:t>
                      </a:r>
                    </a:p>
                  </a:txBody>
                </a:tc>
              </a:tr>
              <a:tr h="0">
                <a:tc>
                  <a:txBody>
                    <a:bodyPr/>
                    <a:lstStyle/>
                    <a:p>
                      <a:pPr lvl="0" indent="0" marL="0" algn="l">
                        <a:buNone/>
                      </a:pPr>
                      <a:r>
                        <a:rPr/>
                        <a:t>튀링겐</a:t>
                      </a:r>
                    </a:p>
                  </a:txBody>
                </a:tc>
                <a:tc>
                  <a:txBody>
                    <a:bodyPr/>
                    <a:lstStyle/>
                    <a:p>
                      <a:pPr lvl="0" indent="0" marL="0" algn="l">
                        <a:buNone/>
                      </a:pPr>
                      <a:r>
                        <a:rPr/>
                        <a:t>두툼하고 빵 속에 꽉 차는 묵직한 식감의 소시지</a:t>
                      </a:r>
                    </a:p>
                  </a:txBody>
                </a:tc>
              </a:tr>
              <a:tr h="0">
                <a:tc>
                  <a:txBody>
                    <a:bodyPr/>
                    <a:lstStyle/>
                    <a:p>
                      <a:pPr lvl="0" indent="0" marL="0" algn="l">
                        <a:buNone/>
                      </a:pPr>
                      <a:r>
                        <a:rPr/>
                        <a:t>슈뱅커 브랏부르스트</a:t>
                      </a:r>
                    </a:p>
                  </a:txBody>
                </a:tc>
                <a:tc>
                  <a:txBody>
                    <a:bodyPr/>
                    <a:lstStyle/>
                    <a:p>
                      <a:pPr lvl="0" indent="0" marL="0" algn="l">
                        <a:buNone/>
                      </a:pPr>
                      <a:r>
                        <a:rPr/>
                        <a:t>회전 그릴로 구워 겉바속촉을 구현한 마켓 대표 메뉴</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라이베쿠흔</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감자의 고소함과 사과의 달콤함</a:t>
            </a:r>
          </a:p>
        </p:txBody>
      </p:sp>
      <p:sp>
        <p:nvSpPr>
          <p:cNvPr id="3" name="Content Placeholder 2"/>
          <p:cNvSpPr>
            <a:spLocks noGrp="1"/>
          </p:cNvSpPr>
          <p:nvPr>
            <p:ph idx="1"/>
          </p:nvPr>
        </p:nvSpPr>
        <p:spPr/>
        <p:txBody>
          <a:bodyPr/>
          <a:lstStyle/>
          <a:p>
            <a:pPr lvl="0"/>
            <a:r>
              <a:rPr/>
              <a:t>으깬 감자에 달걀과 우유를 넣어 기름에 노릇하게 튀겨낸 팬케이크</a:t>
            </a:r>
          </a:p>
          <a:p>
            <a:pPr lvl="0"/>
            <a:r>
              <a:rPr/>
              <a:t>겉은 바삭하고 속은 촉촉한 식감을 자랑하는 고칼로리의 에너지원</a:t>
            </a:r>
          </a:p>
          <a:p>
            <a:pPr lvl="0"/>
            <a:r>
              <a:rPr/>
              <a:t>설탕 대신 꿀과 사과 소스를 곁들여 먹는 독일만의 독특한 미식 조합</a:t>
            </a:r>
          </a:p>
          <a:p>
            <a:pPr lvl="0"/>
            <a:r>
              <a:rPr/>
              <a:t>추운 밤 마켓을 돌아다닐 에너지를 즉각적으로 공급하는 든든한 간식</a:t>
            </a:r>
          </a:p>
          <a:p>
            <a:pPr lvl="0"/>
            <a:r>
              <a:rPr/>
              <a:t>글뤼바인을 마시기 전 위장을 보호하기 위해 섭취하기 안성맞춤인 메뉴</a:t>
            </a:r>
          </a:p>
          <a:p>
            <a:pPr lvl="0" indent="0" marL="0">
              <a:buNone/>
            </a:pPr>
            <a:r>
              <a:rPr/>
              <a:t>항목A(고소함): ██████████ 100% 항목B(바삭함): ████████ 80% 항목C(달콤함): █████ 50%</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군밤</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향수를 불러일으키는 겨울의 상징</a:t>
            </a:r>
          </a:p>
        </p:txBody>
      </p:sp>
      <p:sp>
        <p:nvSpPr>
          <p:cNvPr id="4" name="Text Placeholder 3"/>
          <p:cNvSpPr>
            <a:spLocks noGrp="1"/>
          </p:cNvSpPr>
          <p:nvPr>
            <p:ph idx="2" sz="half" type="body"/>
          </p:nvPr>
        </p:nvSpPr>
        <p:spPr/>
        <p:txBody>
          <a:bodyPr/>
          <a:lstStyle/>
          <a:p>
            <a:pPr lvl="0"/>
            <a:r>
              <a:rPr/>
              <a:t>야외 화덕에서 직접 구워내는 어마어마한 양의 밤 비주얼과 향기</a:t>
            </a:r>
          </a:p>
          <a:p>
            <a:pPr lvl="0"/>
            <a:r>
              <a:rPr/>
              <a:t>주렁주렁 매달린 수십 개의 밤 자루가 축제 분위기를 한층 고조시킴</a:t>
            </a:r>
          </a:p>
          <a:p>
            <a:pPr lvl="0"/>
            <a:r>
              <a:rPr/>
              <a:t>편리한 가공식품 시대에 껍질째 굽는 전통 방식을 고수하는 희귀한 장소</a:t>
            </a:r>
          </a:p>
          <a:p>
            <a:pPr lvl="0"/>
            <a:r>
              <a:rPr/>
              <a:t>가족들과 둘러앉아 밤을 나눠 먹던 시절의 향수를 자극하는 감성 요소</a:t>
            </a:r>
          </a:p>
          <a:p>
            <a:pPr lvl="0"/>
            <a:r>
              <a:rPr/>
              <a:t>1인분 봉지 안에 담긴 밤의 양은 적지만 풍요로움을 만끽하는 도구</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구성 요소</a:t>
                      </a:r>
                    </a:p>
                  </a:txBody>
                  <a:tcPr/>
                </a:tc>
                <a:tc>
                  <a:txBody>
                    <a:bodyPr/>
                    <a:lstStyle/>
                    <a:p>
                      <a:pPr lvl="0" indent="0" marL="0" algn="l">
                        <a:buNone/>
                      </a:pPr>
                      <a:r>
                        <a:rPr/>
                        <a:t>상세 설명</a:t>
                      </a:r>
                    </a:p>
                  </a:txBody>
                  <a:tcPr/>
                </a:tc>
                <a:tc>
                  <a:txBody>
                    <a:bodyPr/>
                    <a:lstStyle/>
                    <a:p>
                      <a:pPr lvl="0" indent="0" marL="0" algn="l">
                        <a:buNone/>
                      </a:pPr>
                      <a:r>
                        <a:rPr/>
                        <a:t>비고</a:t>
                      </a:r>
                    </a:p>
                  </a:txBody>
                  <a:tcPr/>
                </a:tc>
              </a:tr>
              <a:tr h="0">
                <a:tc>
                  <a:txBody>
                    <a:bodyPr/>
                    <a:lstStyle/>
                    <a:p>
                      <a:pPr lvl="0" indent="0" marL="0" algn="l">
                        <a:buNone/>
                      </a:pPr>
                      <a:r>
                        <a:rPr/>
                        <a:t>통나무집</a:t>
                      </a:r>
                    </a:p>
                  </a:txBody>
                </a:tc>
                <a:tc>
                  <a:txBody>
                    <a:bodyPr/>
                    <a:lstStyle/>
                    <a:p>
                      <a:pPr lvl="0" indent="0" marL="0" algn="l">
                        <a:buNone/>
                      </a:pPr>
                      <a:r>
                        <a:rPr/>
                        <a:t>군밤만을 전문으로 파는 마켓 전용 부스</a:t>
                      </a:r>
                    </a:p>
                  </a:txBody>
                </a:tc>
                <a:tc>
                  <a:txBody>
                    <a:bodyPr/>
                    <a:lstStyle/>
                    <a:p>
                      <a:pPr lvl="0" indent="0" marL="0" algn="l">
                        <a:buNone/>
                      </a:pPr>
                      <a:r>
                        <a:rPr/>
                        <a:t>시즌 한정 운영</a:t>
                      </a:r>
                    </a:p>
                  </a:txBody>
                </a:tc>
              </a:tr>
              <a:tr h="0">
                <a:tc>
                  <a:txBody>
                    <a:bodyPr/>
                    <a:lstStyle/>
                    <a:p>
                      <a:pPr lvl="0" indent="0" marL="0" algn="l">
                        <a:buNone/>
                      </a:pPr>
                      <a:r>
                        <a:rPr/>
                        <a:t>화덕</a:t>
                      </a:r>
                    </a:p>
                  </a:txBody>
                </a:tc>
                <a:tc>
                  <a:txBody>
                    <a:bodyPr/>
                    <a:lstStyle/>
                    <a:p>
                      <a:pPr lvl="0" indent="0" marL="0" algn="l">
                        <a:buNone/>
                      </a:pPr>
                      <a:r>
                        <a:rPr/>
                        <a:t>눈앞에서 구워지는 과정을 보여주는 조리 도구</a:t>
                      </a:r>
                    </a:p>
                  </a:txBody>
                </a:tc>
                <a:tc>
                  <a:txBody>
                    <a:bodyPr/>
                    <a:lstStyle/>
                    <a:p>
                      <a:pPr lvl="0" indent="0" marL="0" algn="l">
                        <a:buNone/>
                      </a:pPr>
                      <a:r>
                        <a:rPr/>
                        <a:t>시각적 홍보 효과</a:t>
                      </a:r>
                    </a:p>
                  </a:txBody>
                </a:tc>
              </a:tr>
              <a:tr h="0">
                <a:tc>
                  <a:txBody>
                    <a:bodyPr/>
                    <a:lstStyle/>
                    <a:p>
                      <a:pPr lvl="0" indent="0" marL="0" algn="l">
                        <a:buNone/>
                      </a:pPr>
                      <a:r>
                        <a:rPr/>
                        <a:t>밤 자루</a:t>
                      </a:r>
                    </a:p>
                  </a:txBody>
                </a:tc>
                <a:tc>
                  <a:txBody>
                    <a:bodyPr/>
                    <a:lstStyle/>
                    <a:p>
                      <a:pPr lvl="0" indent="0" marL="0" algn="l">
                        <a:buNone/>
                      </a:pPr>
                      <a:r>
                        <a:rPr/>
                        <a:t>수백 개의 알밤이 쌓여있는 풍요로운 장식</a:t>
                      </a:r>
                    </a:p>
                  </a:txBody>
                </a:tc>
                <a:tc>
                  <a:txBody>
                    <a:bodyPr/>
                    <a:lstStyle/>
                    <a:p>
                      <a:pPr lvl="0" indent="0" marL="0" algn="l">
                        <a:buNone/>
                      </a:pPr>
                      <a:r>
                        <a:rPr/>
                        <a:t>축제 감성 유발</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라클래트</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녹아내리는 치즈의 진한 풍미</a:t>
            </a:r>
          </a:p>
        </p:txBody>
      </p:sp>
      <p:sp>
        <p:nvSpPr>
          <p:cNvPr id="3" name="Content Placeholder 2"/>
          <p:cNvSpPr>
            <a:spLocks noGrp="1"/>
          </p:cNvSpPr>
          <p:nvPr>
            <p:ph idx="1"/>
          </p:nvPr>
        </p:nvSpPr>
        <p:spPr/>
        <p:txBody>
          <a:bodyPr/>
          <a:lstStyle/>
          <a:p>
            <a:pPr lvl="0"/>
            <a:r>
              <a:rPr/>
              <a:t>통치즈를 반으로 잘라 기계에 올린 뒤 가열하여 녹은 부분을 긁어내는 요리</a:t>
            </a:r>
          </a:p>
          <a:p>
            <a:pPr lvl="0"/>
            <a:r>
              <a:rPr/>
              <a:t>바삭하게 구운 바게트 위에 담요처럼 치즈를 덮어 제공하는 방식</a:t>
            </a:r>
          </a:p>
          <a:p>
            <a:pPr lvl="0"/>
            <a:r>
              <a:rPr/>
              <a:t>원래 스위스와 프랑스에서 유래했으나 최근 독일에서도 큰 인기 구가</a:t>
            </a:r>
          </a:p>
          <a:p>
            <a:pPr lvl="0"/>
            <a:r>
              <a:rPr/>
              <a:t>꼴꼴한 치즈 냄새와 녹아내리는 비주얼로 사람들의 시선을 사로잡음</a:t>
            </a:r>
          </a:p>
          <a:p>
            <a:pPr lvl="0"/>
            <a:r>
              <a:rPr/>
              <a:t>글뤼바인과 함께 먹을 때 천상의 맛과 고급스러운 만족감을 동시에 선사</a:t>
            </a:r>
          </a:p>
          <a:p>
            <a:pPr lvl="0" indent="0" marL="0">
              <a:buNone/>
            </a:pPr>
            <a:r>
              <a:rPr/>
              <a:t>[가열] -&gt; [치즈 멜팅] -&gt; [긁어내기] -&gt; [빵 위에 도포]</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플램락스</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장작불로 구운 프리미엄 연어</a:t>
            </a:r>
          </a:p>
        </p:txBody>
      </p:sp>
      <p:sp>
        <p:nvSpPr>
          <p:cNvPr id="4" name="Text Placeholder 3"/>
          <p:cNvSpPr>
            <a:spLocks noGrp="1"/>
          </p:cNvSpPr>
          <p:nvPr>
            <p:ph idx="2" sz="half" type="body"/>
          </p:nvPr>
        </p:nvSpPr>
        <p:spPr/>
        <p:txBody>
          <a:bodyPr/>
          <a:lstStyle/>
          <a:p>
            <a:pPr lvl="0"/>
            <a:r>
              <a:rPr/>
              <a:t>너도밤나무 장작 화로에서 직접 구워내는 핀란드식 특선 연어 요리</a:t>
            </a:r>
          </a:p>
          <a:p>
            <a:pPr lvl="0"/>
            <a:r>
              <a:rPr/>
              <a:t>나무 판에 연어를 고정한 뒤 수직으로 세워 불길 옆에서 서서히 익힘</a:t>
            </a:r>
          </a:p>
          <a:p>
            <a:pPr lvl="0"/>
            <a:r>
              <a:rPr/>
              <a:t>길거리 음식치고는 고가인 11유로 이상의 가격대를 형성하는 럭셔리 메뉴</a:t>
            </a:r>
          </a:p>
          <a:p>
            <a:pPr lvl="0"/>
            <a:r>
              <a:rPr/>
              <a:t>연어와 불 사이의 온도와 거리를 정교하게 유지해야 하는 전문 기술 요함</a:t>
            </a:r>
          </a:p>
          <a:p>
            <a:pPr lvl="0"/>
            <a:r>
              <a:rPr/>
              <a:t>통유리로 된 고급 부스 안에서 장작이 타는 낭만적인 비주얼을 제공</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조리 환경 비교</a:t>
                      </a:r>
                    </a:p>
                  </a:txBody>
                  <a:tcPr/>
                </a:tc>
                <a:tc>
                  <a:txBody>
                    <a:bodyPr/>
                    <a:lstStyle/>
                    <a:p>
                      <a:pPr lvl="0" indent="0" marL="0" algn="l">
                        <a:buNone/>
                      </a:pPr>
                      <a:r>
                        <a:rPr/>
                        <a:t>일반 그릴</a:t>
                      </a:r>
                    </a:p>
                  </a:txBody>
                  <a:tcPr/>
                </a:tc>
                <a:tc>
                  <a:txBody>
                    <a:bodyPr/>
                    <a:lstStyle/>
                    <a:p>
                      <a:pPr lvl="0" indent="0" marL="0" algn="l">
                        <a:buNone/>
                      </a:pPr>
                      <a:r>
                        <a:rPr/>
                        <a:t>플램락스 화로</a:t>
                      </a:r>
                    </a:p>
                  </a:txBody>
                  <a:tcPr/>
                </a:tc>
              </a:tr>
              <a:tr h="0">
                <a:tc>
                  <a:txBody>
                    <a:bodyPr/>
                    <a:lstStyle/>
                    <a:p>
                      <a:pPr lvl="0" indent="0" marL="0" algn="l">
                        <a:buNone/>
                      </a:pPr>
                      <a:r>
                        <a:rPr/>
                        <a:t>연료</a:t>
                      </a:r>
                    </a:p>
                  </a:txBody>
                </a:tc>
                <a:tc>
                  <a:txBody>
                    <a:bodyPr/>
                    <a:lstStyle/>
                    <a:p>
                      <a:pPr lvl="0" indent="0" marL="0" algn="l">
                        <a:buNone/>
                      </a:pPr>
                      <a:r>
                        <a:rPr/>
                        <a:t>숯 또는 가스</a:t>
                      </a:r>
                    </a:p>
                  </a:txBody>
                </a:tc>
                <a:tc>
                  <a:txBody>
                    <a:bodyPr/>
                    <a:lstStyle/>
                    <a:p>
                      <a:pPr lvl="0" indent="0" marL="0" algn="l">
                        <a:buNone/>
                      </a:pPr>
                      <a:r>
                        <a:rPr/>
                        <a:t>실제 너도밤나무 장작</a:t>
                      </a:r>
                    </a:p>
                  </a:txBody>
                </a:tc>
              </a:tr>
              <a:tr h="0">
                <a:tc>
                  <a:txBody>
                    <a:bodyPr/>
                    <a:lstStyle/>
                    <a:p>
                      <a:pPr lvl="0" indent="0" marL="0" algn="l">
                        <a:buNone/>
                      </a:pPr>
                      <a:r>
                        <a:rPr/>
                        <a:t>조리 방식</a:t>
                      </a:r>
                    </a:p>
                  </a:txBody>
                </a:tc>
                <a:tc>
                  <a:txBody>
                    <a:bodyPr/>
                    <a:lstStyle/>
                    <a:p>
                      <a:pPr lvl="0" indent="0" marL="0" algn="l">
                        <a:buNone/>
                      </a:pPr>
                      <a:r>
                        <a:rPr/>
                        <a:t>수평 가열</a:t>
                      </a:r>
                    </a:p>
                  </a:txBody>
                </a:tc>
                <a:tc>
                  <a:txBody>
                    <a:bodyPr/>
                    <a:lstStyle/>
                    <a:p>
                      <a:pPr lvl="0" indent="0" marL="0" algn="l">
                        <a:buNone/>
                      </a:pPr>
                      <a:r>
                        <a:rPr/>
                        <a:t>수직 훈연 및 직화</a:t>
                      </a:r>
                    </a:p>
                  </a:txBody>
                </a:tc>
              </a:tr>
              <a:tr h="0">
                <a:tc>
                  <a:txBody>
                    <a:bodyPr/>
                    <a:lstStyle/>
                    <a:p>
                      <a:pPr lvl="0" indent="0" marL="0" algn="l">
                        <a:buNone/>
                      </a:pPr>
                      <a:r>
                        <a:rPr/>
                        <a:t>시각 효과</a:t>
                      </a:r>
                    </a:p>
                  </a:txBody>
                </a:tc>
                <a:tc>
                  <a:txBody>
                    <a:bodyPr/>
                    <a:lstStyle/>
                    <a:p>
                      <a:pPr lvl="0" indent="0" marL="0" algn="l">
                        <a:buNone/>
                      </a:pPr>
                      <a:r>
                        <a:rPr/>
                        <a:t>단순 조리</a:t>
                      </a:r>
                    </a:p>
                  </a:txBody>
                </a:tc>
                <a:tc>
                  <a:txBody>
                    <a:bodyPr/>
                    <a:lstStyle/>
                    <a:p>
                      <a:pPr lvl="0" indent="0" marL="0" algn="l">
                        <a:buNone/>
                      </a:pPr>
                      <a:r>
                        <a:rPr/>
                        <a:t>캠프파이어 분위기</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글뤼바인</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마켓의 온기를 채우는 따뜻한 와인</a:t>
            </a:r>
          </a:p>
        </p:txBody>
      </p:sp>
      <p:sp>
        <p:nvSpPr>
          <p:cNvPr id="3" name="Content Placeholder 2"/>
          <p:cNvSpPr>
            <a:spLocks noGrp="1"/>
          </p:cNvSpPr>
          <p:nvPr>
            <p:ph idx="1"/>
          </p:nvPr>
        </p:nvSpPr>
        <p:spPr/>
        <p:txBody>
          <a:bodyPr/>
          <a:lstStyle/>
          <a:p>
            <a:pPr lvl="0"/>
            <a:r>
              <a:rPr/>
              <a:t>와인에 시나몬, 정향, 설탕 등을 넣어 따뜻하게 데워 마시는 겨울 음료</a:t>
            </a:r>
          </a:p>
          <a:p>
            <a:pPr lvl="0"/>
            <a:r>
              <a:rPr/>
              <a:t>추운 날씨에 손을 녹이고 체온을 올려주는 마켓 방문객들의 필수 아이템</a:t>
            </a:r>
          </a:p>
          <a:p>
            <a:pPr lvl="0"/>
            <a:r>
              <a:rPr/>
              <a:t>컵 보증금 제도인 판트(Pfand)를 통해 환경을 보호하고 기념품을 제공</a:t>
            </a:r>
          </a:p>
          <a:p>
            <a:pPr lvl="0"/>
            <a:r>
              <a:rPr/>
              <a:t>각 마켓이나 도시의 고유한 디자인이 담긴 머그컵을 수집하는 문화</a:t>
            </a:r>
          </a:p>
          <a:p>
            <a:pPr lvl="0"/>
            <a:r>
              <a:rPr/>
              <a:t>알코올이 없는 킨더푼슈 등을 통해 전 연령층이 함께 즐기는 음료 문화</a:t>
            </a:r>
          </a:p>
          <a:p>
            <a:pPr lvl="0" indent="0" marL="0">
              <a:buNone/>
            </a:pPr>
            <a:r>
              <a:rPr/>
              <a:t>[주문 및 보증금 지불] -&gt; [음료 시음] -&gt; [컵 반납 또는 소장 결정]</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슈톨렌</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기다림을 구워낸 독일의 전통 빵</a:t>
            </a:r>
          </a:p>
        </p:txBody>
      </p:sp>
      <p:sp>
        <p:nvSpPr>
          <p:cNvPr id="4" name="Text Placeholder 3"/>
          <p:cNvSpPr>
            <a:spLocks noGrp="1"/>
          </p:cNvSpPr>
          <p:nvPr>
            <p:ph idx="2" sz="half" type="body"/>
          </p:nvPr>
        </p:nvSpPr>
        <p:spPr/>
        <p:txBody>
          <a:bodyPr/>
          <a:lstStyle/>
          <a:p>
            <a:pPr lvl="0"/>
            <a:r>
              <a:rPr/>
              <a:t>건과일과 마지팬이 가득 들어간 묵직한 타원형의 독일 전통 케이크</a:t>
            </a:r>
          </a:p>
          <a:p>
            <a:pPr lvl="0"/>
            <a:r>
              <a:rPr/>
              <a:t>하얀 설탕 가루로 덮인 외관은 아기 예수를 감싼 강보를 형상화함</a:t>
            </a:r>
          </a:p>
          <a:p>
            <a:pPr lvl="0"/>
            <a:r>
              <a:rPr/>
              <a:t>시간이 지날수록 재료의 풍미가 빵에 스며들어 맛이 깊어지는 저장 식품</a:t>
            </a:r>
          </a:p>
          <a:p>
            <a:pPr lvl="0"/>
            <a:r>
              <a:rPr/>
              <a:t>가운데부터 썰어 먹고 남은 양쪽을 붙여 보관하여 수분 증발을 방지</a:t>
            </a:r>
          </a:p>
          <a:p>
            <a:pPr lvl="0"/>
            <a:r>
              <a:rPr/>
              <a:t>대림절 기간 동안 매주 일요일에 한 조각씩 나눠 먹으며 성탄을 기다림</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구성 재료</a:t>
                      </a:r>
                    </a:p>
                  </a:txBody>
                  <a:tcPr/>
                </a:tc>
                <a:tc>
                  <a:txBody>
                    <a:bodyPr/>
                    <a:lstStyle/>
                    <a:p>
                      <a:pPr lvl="0" indent="0" marL="0" algn="l">
                        <a:buNone/>
                      </a:pPr>
                      <a:r>
                        <a:rPr/>
                        <a:t>특징 및 용도</a:t>
                      </a:r>
                    </a:p>
                  </a:txBody>
                  <a:tcPr/>
                </a:tc>
              </a:tr>
              <a:tr h="0">
                <a:tc>
                  <a:txBody>
                    <a:bodyPr/>
                    <a:lstStyle/>
                    <a:p>
                      <a:pPr lvl="0" indent="0" marL="0" algn="l">
                        <a:buNone/>
                      </a:pPr>
                      <a:r>
                        <a:rPr/>
                        <a:t>절인 건과일</a:t>
                      </a:r>
                    </a:p>
                  </a:txBody>
                </a:tc>
                <a:tc>
                  <a:txBody>
                    <a:bodyPr/>
                    <a:lstStyle/>
                    <a:p>
                      <a:pPr lvl="0" indent="0" marL="0" algn="l">
                        <a:buNone/>
                      </a:pPr>
                      <a:r>
                        <a:rPr/>
                        <a:t>브랜디나 럼에 1~2년 숙성하여 풍미를 극대화</a:t>
                      </a:r>
                    </a:p>
                  </a:txBody>
                </a:tc>
              </a:tr>
              <a:tr h="0">
                <a:tc>
                  <a:txBody>
                    <a:bodyPr/>
                    <a:lstStyle/>
                    <a:p>
                      <a:pPr lvl="0" indent="0" marL="0" algn="l">
                        <a:buNone/>
                      </a:pPr>
                      <a:r>
                        <a:rPr/>
                        <a:t>마지팬</a:t>
                      </a:r>
                    </a:p>
                  </a:txBody>
                </a:tc>
                <a:tc>
                  <a:txBody>
                    <a:bodyPr/>
                    <a:lstStyle/>
                    <a:p>
                      <a:pPr lvl="0" indent="0" marL="0" algn="l">
                        <a:buNone/>
                      </a:pPr>
                      <a:r>
                        <a:rPr/>
                        <a:t>빵 속에 동그랗게 넣어 고소한 맛을 더함</a:t>
                      </a:r>
                    </a:p>
                  </a:txBody>
                </a:tc>
              </a:tr>
              <a:tr h="0">
                <a:tc>
                  <a:txBody>
                    <a:bodyPr/>
                    <a:lstStyle/>
                    <a:p>
                      <a:pPr lvl="0" indent="0" marL="0" algn="l">
                        <a:buNone/>
                      </a:pPr>
                      <a:r>
                        <a:rPr/>
                        <a:t>슈가 파우더</a:t>
                      </a:r>
                    </a:p>
                  </a:txBody>
                </a:tc>
                <a:tc>
                  <a:txBody>
                    <a:bodyPr/>
                    <a:lstStyle/>
                    <a:p>
                      <a:pPr lvl="0" indent="0" marL="0" algn="l">
                        <a:buNone/>
                      </a:pPr>
                      <a:r>
                        <a:rPr/>
                        <a:t>겉면을 덮어 보존성을 높이고 상징적 의미 부여</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렙쿠헨</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향신료로 빚어낸 성탄의 과자</a:t>
            </a:r>
          </a:p>
        </p:txBody>
      </p:sp>
      <p:sp>
        <p:nvSpPr>
          <p:cNvPr id="3" name="Content Placeholder 2"/>
          <p:cNvSpPr>
            <a:spLocks noGrp="1"/>
          </p:cNvSpPr>
          <p:nvPr>
            <p:ph idx="1"/>
          </p:nvPr>
        </p:nvSpPr>
        <p:spPr/>
        <p:txBody>
          <a:bodyPr/>
          <a:lstStyle/>
          <a:p>
            <a:pPr lvl="0"/>
            <a:r>
              <a:rPr/>
              <a:t>꿀과 생강 등의 향신료에 견과류를 넣어 구운 독일식 진저브레드</a:t>
            </a:r>
          </a:p>
          <a:p>
            <a:pPr lvl="0"/>
            <a:r>
              <a:rPr/>
              <a:t>중세 수도원에서 병든 사람들을 위한 치료용 영양식으로 시작된 역사</a:t>
            </a:r>
          </a:p>
          <a:p>
            <a:pPr lvl="0"/>
            <a:r>
              <a:rPr/>
              <a:t>하트나 별 모양의 화려한 아이싱 장식으로 시각적 즐거움을 선사함</a:t>
            </a:r>
          </a:p>
          <a:p>
            <a:pPr lvl="0"/>
            <a:r>
              <a:rPr/>
              <a:t>잘 밀봉하면 계절 내내 신선하게 즐길 수 있는 뛰어난 보존성 자랑</a:t>
            </a:r>
          </a:p>
          <a:p>
            <a:pPr lvl="0"/>
            <a:r>
              <a:rPr/>
              <a:t>크리스마스 트리 장식물이나 선물용으로도 널리 활용되는 필수 간식</a:t>
            </a:r>
          </a:p>
          <a:p>
            <a:pPr lvl="0" indent="0" marL="0">
              <a:buNone/>
            </a:pPr>
            <a:r>
              <a:rPr/>
              <a:t>[반죽 제조] -&gt; [모양 찍기] -&gt; [굽기] -&gt; [아이싱 장식] -&gt; [숙성]</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크리스마스 피라미드</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열기로 돌아가는 나무 탑의 마법</a:t>
            </a:r>
          </a:p>
        </p:txBody>
      </p:sp>
      <p:sp>
        <p:nvSpPr>
          <p:cNvPr id="4" name="Text Placeholder 3"/>
          <p:cNvSpPr>
            <a:spLocks noGrp="1"/>
          </p:cNvSpPr>
          <p:nvPr>
            <p:ph idx="2" sz="half" type="body"/>
          </p:nvPr>
        </p:nvSpPr>
        <p:spPr/>
        <p:txBody>
          <a:bodyPr/>
          <a:lstStyle/>
          <a:p>
            <a:pPr lvl="0"/>
            <a:r>
              <a:rPr/>
              <a:t>촛불의 열기로 상단의 날개가 회전하며 장식 인형들이 움직이는 목공예품</a:t>
            </a:r>
          </a:p>
          <a:p>
            <a:pPr lvl="0"/>
            <a:r>
              <a:rPr/>
              <a:t>광산 지대인 에르츠 산맥 광부들이 중세에 부업으로 만들기 시작한 유산</a:t>
            </a:r>
          </a:p>
          <a:p>
            <a:pPr lvl="0"/>
            <a:r>
              <a:rPr/>
              <a:t>각 층마다 성서 인물이나 산타 등 성탄에 어울리는 인형들로 화려하게 장식</a:t>
            </a:r>
          </a:p>
          <a:p>
            <a:pPr lvl="0"/>
            <a:r>
              <a:rPr/>
              <a:t>마켓 광장 중앙에 대형으로 설치되어 동화 같은 풍경을 만드는 핵심 조연</a:t>
            </a:r>
          </a:p>
          <a:p>
            <a:pPr lvl="0"/>
            <a:r>
              <a:rPr/>
              <a:t>360도 방향에서 관람 가능한 입체적인 구조로 시각적 개방감을 제공</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구성 요소</a:t>
                      </a:r>
                    </a:p>
                  </a:txBody>
                  <a:tcPr/>
                </a:tc>
                <a:tc>
                  <a:txBody>
                    <a:bodyPr/>
                    <a:lstStyle/>
                    <a:p>
                      <a:pPr lvl="0" indent="0" marL="0" algn="l">
                        <a:buNone/>
                      </a:pPr>
                      <a:r>
                        <a:rPr/>
                        <a:t>역할 설명</a:t>
                      </a:r>
                    </a:p>
                  </a:txBody>
                  <a:tcPr/>
                </a:tc>
              </a:tr>
              <a:tr h="0">
                <a:tc>
                  <a:txBody>
                    <a:bodyPr/>
                    <a:lstStyle/>
                    <a:p>
                      <a:pPr lvl="0" indent="0" marL="0" algn="l">
                        <a:buNone/>
                      </a:pPr>
                      <a:r>
                        <a:rPr/>
                        <a:t>회전 날개</a:t>
                      </a:r>
                    </a:p>
                  </a:txBody>
                </a:tc>
                <a:tc>
                  <a:txBody>
                    <a:bodyPr/>
                    <a:lstStyle/>
                    <a:p>
                      <a:pPr lvl="0" indent="0" marL="0" algn="l">
                        <a:buNone/>
                      </a:pPr>
                      <a:r>
                        <a:rPr/>
                        <a:t>상승 기류를 이용해 동력을 전달하는 장치</a:t>
                      </a:r>
                    </a:p>
                  </a:txBody>
                </a:tc>
              </a:tr>
              <a:tr h="0">
                <a:tc>
                  <a:txBody>
                    <a:bodyPr/>
                    <a:lstStyle/>
                    <a:p>
                      <a:pPr lvl="0" indent="0" marL="0" algn="l">
                        <a:buNone/>
                      </a:pPr>
                      <a:r>
                        <a:rPr/>
                        <a:t>장식 층</a:t>
                      </a:r>
                    </a:p>
                  </a:txBody>
                </a:tc>
                <a:tc>
                  <a:txBody>
                    <a:bodyPr/>
                    <a:lstStyle/>
                    <a:p>
                      <a:pPr lvl="0" indent="0" marL="0" algn="l">
                        <a:buNone/>
                      </a:pPr>
                      <a:r>
                        <a:rPr/>
                        <a:t>성탄 테마 인형들이 배치되는 전시 공간</a:t>
                      </a:r>
                    </a:p>
                  </a:txBody>
                </a:tc>
              </a:tr>
              <a:tr h="0">
                <a:tc>
                  <a:txBody>
                    <a:bodyPr/>
                    <a:lstStyle/>
                    <a:p>
                      <a:pPr lvl="0" indent="0" marL="0" algn="l">
                        <a:buNone/>
                      </a:pPr>
                      <a:r>
                        <a:rPr/>
                        <a:t>촛대/동력원</a:t>
                      </a:r>
                    </a:p>
                  </a:txBody>
                </a:tc>
                <a:tc>
                  <a:txBody>
                    <a:bodyPr/>
                    <a:lstStyle/>
                    <a:p>
                      <a:pPr lvl="0" indent="0" marL="0" algn="l">
                        <a:buNone/>
                      </a:pPr>
                      <a:r>
                        <a:rPr/>
                        <a:t>피라미드를 움직이게 하는 에너지 원천</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호두까기 인형</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악령을 물리치는 수호의 병사</a:t>
            </a:r>
          </a:p>
        </p:txBody>
      </p:sp>
      <p:sp>
        <p:nvSpPr>
          <p:cNvPr id="3" name="Content Placeholder 2"/>
          <p:cNvSpPr>
            <a:spLocks noGrp="1"/>
          </p:cNvSpPr>
          <p:nvPr>
            <p:ph idx="1"/>
          </p:nvPr>
        </p:nvSpPr>
        <p:spPr/>
        <p:txBody>
          <a:bodyPr/>
          <a:lstStyle/>
          <a:p>
            <a:pPr lvl="0"/>
            <a:r>
              <a:rPr/>
              <a:t>1600년대 오어 산맥 광부들이 어두운 겨울밤의 악령을 물리치려 제작</a:t>
            </a:r>
          </a:p>
          <a:p>
            <a:pPr lvl="0"/>
            <a:r>
              <a:rPr/>
              <a:t>붉은 군복과 강인한 사각턱을 가진 독특한 외형으로 가정의 평화 수호</a:t>
            </a:r>
          </a:p>
          <a:p>
            <a:pPr lvl="0"/>
            <a:r>
              <a:rPr/>
              <a:t>2차 대전 후 미군들이 기념품으로 가져가며 세계적인 문화 아이콘으로 도약</a:t>
            </a:r>
          </a:p>
          <a:p>
            <a:pPr lvl="0"/>
            <a:r>
              <a:rPr/>
              <a:t>차이콥스키의 발레를 통해 전 세계에 크리스마스 상징물로 널리 각인됨</a:t>
            </a:r>
          </a:p>
          <a:p>
            <a:pPr lvl="0"/>
            <a:r>
              <a:rPr/>
              <a:t>수십 명의 장인이 세밀한 수작업을 통해 완성하는 고품질의 수공예품</a:t>
            </a:r>
          </a:p>
          <a:p>
            <a:pPr lvl="0" indent="0" marL="0">
              <a:buNone/>
            </a:pPr>
            <a:r>
              <a:rPr/>
              <a:t>전통 모델: ██████████ 100% 현대 변형: ███████ 70% 캐릭터형: █████ 50%</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글로벌 경제와 위기</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관세 폭풍 속의 전통 수공예품</a:t>
            </a:r>
          </a:p>
        </p:txBody>
      </p:sp>
      <p:sp>
        <p:nvSpPr>
          <p:cNvPr id="4" name="Text Placeholder 3"/>
          <p:cNvSpPr>
            <a:spLocks noGrp="1"/>
          </p:cNvSpPr>
          <p:nvPr>
            <p:ph idx="2" sz="half" type="body"/>
          </p:nvPr>
        </p:nvSpPr>
        <p:spPr/>
        <p:txBody>
          <a:bodyPr/>
          <a:lstStyle/>
          <a:p>
            <a:pPr lvl="0"/>
            <a:r>
              <a:rPr/>
              <a:t>미국의 15% 관세 부과와 소액면세제도 폐지로 인한 가격 경쟁력 약화</a:t>
            </a:r>
          </a:p>
          <a:p>
            <a:pPr lvl="0"/>
            <a:r>
              <a:rPr/>
              <a:t>매출의 95%가 미국 시장에서 발생하는 독일 제조사들의 경영 위기 봉착</a:t>
            </a:r>
          </a:p>
          <a:p>
            <a:pPr lvl="0"/>
            <a:r>
              <a:rPr/>
              <a:t>통관 서류 작업 증가와 배송 지연으로 인한 소비자 만족도 저하 우려</a:t>
            </a:r>
          </a:p>
          <a:p>
            <a:pPr lvl="0"/>
            <a:r>
              <a:rPr/>
              <a:t>펜실베이니아에 현지 창고를 건설하여 물류 지연에 대응하는 전략 수립</a:t>
            </a:r>
          </a:p>
          <a:p>
            <a:pPr lvl="0"/>
            <a:r>
              <a:rPr/>
              <a:t>정치적 불확실성 속에서도 한정판 인형 출시 등 적극적인 마케팅 전개</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위기 요인</a:t>
                      </a:r>
                    </a:p>
                  </a:txBody>
                  <a:tcPr/>
                </a:tc>
                <a:tc>
                  <a:txBody>
                    <a:bodyPr/>
                    <a:lstStyle/>
                    <a:p>
                      <a:pPr lvl="0" indent="0" marL="0" algn="l">
                        <a:buNone/>
                      </a:pPr>
                      <a:r>
                        <a:rPr/>
                        <a:t>영향 분석</a:t>
                      </a:r>
                    </a:p>
                  </a:txBody>
                  <a:tcPr/>
                </a:tc>
                <a:tc>
                  <a:txBody>
                    <a:bodyPr/>
                    <a:lstStyle/>
                    <a:p>
                      <a:pPr lvl="0" indent="0" marL="0" algn="l">
                        <a:buNone/>
                      </a:pPr>
                      <a:r>
                        <a:rPr/>
                        <a:t>대응 전략</a:t>
                      </a:r>
                    </a:p>
                  </a:txBody>
                  <a:tcPr/>
                </a:tc>
              </a:tr>
              <a:tr h="0">
                <a:tc>
                  <a:txBody>
                    <a:bodyPr/>
                    <a:lstStyle/>
                    <a:p>
                      <a:pPr lvl="0" indent="0" marL="0" algn="l">
                        <a:buNone/>
                      </a:pPr>
                      <a:r>
                        <a:rPr/>
                        <a:t>15% 관세 부과</a:t>
                      </a:r>
                    </a:p>
                  </a:txBody>
                </a:tc>
                <a:tc>
                  <a:txBody>
                    <a:bodyPr/>
                    <a:lstStyle/>
                    <a:p>
                      <a:pPr lvl="0" indent="0" marL="0" algn="l">
                        <a:buNone/>
                      </a:pPr>
                      <a:r>
                        <a:rPr/>
                        <a:t>소비자 판매가 약 25% 상승</a:t>
                      </a:r>
                    </a:p>
                  </a:txBody>
                </a:tc>
                <a:tc>
                  <a:txBody>
                    <a:bodyPr/>
                    <a:lstStyle/>
                    <a:p>
                      <a:pPr lvl="0" indent="0" marL="0" algn="l">
                        <a:buNone/>
                      </a:pPr>
                      <a:r>
                        <a:rPr/>
                        <a:t>가격 저항선 확인 및 프리미엄 강조</a:t>
                      </a:r>
                    </a:p>
                  </a:txBody>
                </a:tc>
              </a:tr>
              <a:tr h="0">
                <a:tc>
                  <a:txBody>
                    <a:bodyPr/>
                    <a:lstStyle/>
                    <a:p>
                      <a:pPr lvl="0" indent="0" marL="0" algn="l">
                        <a:buNone/>
                      </a:pPr>
                      <a:r>
                        <a:rPr/>
                        <a:t>소액면세 폐지</a:t>
                      </a:r>
                    </a:p>
                  </a:txBody>
                </a:tc>
                <a:tc>
                  <a:txBody>
                    <a:bodyPr/>
                    <a:lstStyle/>
                    <a:p>
                      <a:pPr lvl="0" indent="0" marL="0" algn="l">
                        <a:buNone/>
                      </a:pPr>
                      <a:r>
                        <a:rPr/>
                        <a:t>통관 기간 누적 및 지연 발생</a:t>
                      </a:r>
                    </a:p>
                  </a:txBody>
                </a:tc>
                <a:tc>
                  <a:txBody>
                    <a:bodyPr/>
                    <a:lstStyle/>
                    <a:p>
                      <a:pPr lvl="0" indent="0" marL="0" algn="l">
                        <a:buNone/>
                      </a:pPr>
                      <a:r>
                        <a:rPr/>
                        <a:t>미국 내 물류 거점 및 창고 확보</a:t>
                      </a:r>
                    </a:p>
                  </a:txBody>
                </a:tc>
              </a:tr>
              <a:tr h="0">
                <a:tc>
                  <a:txBody>
                    <a:bodyPr/>
                    <a:lstStyle/>
                    <a:p>
                      <a:pPr lvl="0" indent="0" marL="0" algn="l">
                        <a:buNone/>
                      </a:pPr>
                      <a:r>
                        <a:rPr/>
                        <a:t>정책 불확실성</a:t>
                      </a:r>
                    </a:p>
                  </a:txBody>
                </a:tc>
                <a:tc>
                  <a:txBody>
                    <a:bodyPr/>
                    <a:lstStyle/>
                    <a:p>
                      <a:pPr lvl="0" indent="0" marL="0" algn="l">
                        <a:buNone/>
                      </a:pPr>
                      <a:r>
                        <a:rPr/>
                        <a:t>생산 계획 수립의 어려움</a:t>
                      </a:r>
                    </a:p>
                  </a:txBody>
                </a:tc>
                <a:tc>
                  <a:txBody>
                    <a:bodyPr/>
                    <a:lstStyle/>
                    <a:p>
                      <a:pPr lvl="0" indent="0" marL="0" algn="l">
                        <a:buNone/>
                      </a:pPr>
                      <a:r>
                        <a:rPr/>
                        <a:t>유연한 생산 체계 및 한정판 전략</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크리스마스 이브</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가족 중심의 경건한 마무리</a:t>
            </a:r>
          </a:p>
        </p:txBody>
      </p:sp>
      <p:sp>
        <p:nvSpPr>
          <p:cNvPr id="3" name="Content Placeholder 2"/>
          <p:cNvSpPr>
            <a:spLocks noGrp="1"/>
          </p:cNvSpPr>
          <p:nvPr>
            <p:ph idx="1"/>
          </p:nvPr>
        </p:nvSpPr>
        <p:spPr/>
        <p:txBody>
          <a:bodyPr/>
          <a:lstStyle/>
          <a:p>
            <a:pPr lvl="0"/>
            <a:r>
              <a:rPr/>
              <a:t>12월 24일 저녁에 온 가족이 모여 특별한 식사와 선물을 나누는 풍습</a:t>
            </a:r>
          </a:p>
          <a:p>
            <a:pPr lvl="0"/>
            <a:r>
              <a:rPr/>
              <a:t>가장이 아이들 모르게 크리스마스 나무를 장식하고 선물을 배치하는 전통</a:t>
            </a:r>
          </a:p>
          <a:p>
            <a:pPr lvl="0"/>
            <a:r>
              <a:rPr/>
              <a:t>산타가 다녀갔다는 이야기를 들으며 선물을 개봉하는 동심 보호 의식</a:t>
            </a:r>
          </a:p>
          <a:p>
            <a:pPr lvl="0"/>
            <a:r>
              <a:rPr/>
              <a:t>대부분의 상점이 문을 닫아 도시가 정막에 휩싸이는 가족 중심의 시간</a:t>
            </a:r>
          </a:p>
          <a:p>
            <a:pPr lvl="0"/>
            <a:r>
              <a:rPr/>
              <a:t>자정 미사에 참석하여 예수 탄생을 축하하는 경건하고 장엄한 분위기</a:t>
            </a:r>
          </a:p>
          <a:p>
            <a:pPr lvl="0" indent="0" marL="0">
              <a:buNone/>
            </a:pPr>
            <a:r>
              <a:rPr/>
              <a:t>[식사 준비] -&gt; [나무 장식] -&gt; [선물 개봉] -&gt; [자정 미사]</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겨우살이와 캐럴</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사랑의 규칙과 전통의 선율</a:t>
            </a:r>
          </a:p>
        </p:txBody>
      </p:sp>
      <p:sp>
        <p:nvSpPr>
          <p:cNvPr id="4" name="Text Placeholder 3"/>
          <p:cNvSpPr>
            <a:spLocks noGrp="1"/>
          </p:cNvSpPr>
          <p:nvPr>
            <p:ph idx="2" sz="half" type="body"/>
          </p:nvPr>
        </p:nvSpPr>
        <p:spPr/>
        <p:txBody>
          <a:bodyPr/>
          <a:lstStyle/>
          <a:p>
            <a:pPr lvl="0"/>
            <a:r>
              <a:rPr/>
              <a:t>겨우살이 나무 아래 우연히 선 남녀는 키스를 해야 한다는 낭만적 규칙</a:t>
            </a:r>
          </a:p>
          <a:p>
            <a:pPr lvl="0"/>
            <a:r>
              <a:rPr/>
              <a:t>천사들이 나누어 주는 파란 구슬(초콜릿)을 통해 축복을 확인하는 시간</a:t>
            </a:r>
          </a:p>
          <a:p>
            <a:pPr lvl="0"/>
            <a:r>
              <a:rPr/>
              <a:t>미국식의 신나는 캐럴보다 전통 성가와 클래식 명곡을 선호하는 문화</a:t>
            </a:r>
          </a:p>
          <a:p>
            <a:pPr lvl="0"/>
            <a:r>
              <a:rPr/>
              <a:t>누구나 따라 부를 수 있는 ‘기쁘다 구주 오셨네’ 같은 보편적 성탄 노래</a:t>
            </a:r>
          </a:p>
          <a:p>
            <a:pPr lvl="0"/>
            <a:r>
              <a:rPr/>
              <a:t>성당의 특별 연주회 티켓을 미리 예약해야 할 정도로 높은 음악적 관심</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요소</a:t>
                      </a:r>
                    </a:p>
                  </a:txBody>
                  <a:tcPr/>
                </a:tc>
                <a:tc>
                  <a:txBody>
                    <a:bodyPr/>
                    <a:lstStyle/>
                    <a:p>
                      <a:pPr lvl="0" indent="0" marL="0" algn="l">
                        <a:buNone/>
                      </a:pPr>
                      <a:r>
                        <a:rPr/>
                        <a:t>독일 크리스마스의 특징</a:t>
                      </a:r>
                    </a:p>
                  </a:txBody>
                  <a:tcPr/>
                </a:tc>
                <a:tc>
                  <a:txBody>
                    <a:bodyPr/>
                    <a:lstStyle/>
                    <a:p>
                      <a:pPr lvl="0" indent="0" marL="0" algn="l">
                        <a:buNone/>
                      </a:pPr>
                      <a:r>
                        <a:rPr/>
                        <a:t>비고</a:t>
                      </a:r>
                    </a:p>
                  </a:txBody>
                  <a:tcPr/>
                </a:tc>
              </a:tr>
              <a:tr h="0">
                <a:tc>
                  <a:txBody>
                    <a:bodyPr/>
                    <a:lstStyle/>
                    <a:p>
                      <a:pPr lvl="0" indent="0" marL="0" algn="l">
                        <a:buNone/>
                      </a:pPr>
                      <a:r>
                        <a:rPr/>
                        <a:t>겨우살이</a:t>
                      </a:r>
                    </a:p>
                  </a:txBody>
                </a:tc>
                <a:tc>
                  <a:txBody>
                    <a:bodyPr/>
                    <a:lstStyle/>
                    <a:p>
                      <a:pPr lvl="0" indent="0" marL="0" algn="l">
                        <a:buNone/>
                      </a:pPr>
                      <a:r>
                        <a:rPr/>
                        <a:t>우연한 만남과 키스의 허용</a:t>
                      </a:r>
                    </a:p>
                  </a:txBody>
                </a:tc>
                <a:tc>
                  <a:txBody>
                    <a:bodyPr/>
                    <a:lstStyle/>
                    <a:p>
                      <a:pPr lvl="0" indent="0" marL="0" algn="l">
                        <a:buNone/>
                      </a:pPr>
                      <a:r>
                        <a:rPr/>
                        <a:t>로맨틱한 분위기 조성</a:t>
                      </a:r>
                    </a:p>
                  </a:txBody>
                </a:tc>
              </a:tr>
              <a:tr h="0">
                <a:tc>
                  <a:txBody>
                    <a:bodyPr/>
                    <a:lstStyle/>
                    <a:p>
                      <a:pPr lvl="0" indent="0" marL="0" algn="l">
                        <a:buNone/>
                      </a:pPr>
                      <a:r>
                        <a:rPr/>
                        <a:t>음악 스타일</a:t>
                      </a:r>
                    </a:p>
                  </a:txBody>
                </a:tc>
                <a:tc>
                  <a:txBody>
                    <a:bodyPr/>
                    <a:lstStyle/>
                    <a:p>
                      <a:pPr lvl="0" indent="0" marL="0" algn="l">
                        <a:buNone/>
                      </a:pPr>
                      <a:r>
                        <a:rPr/>
                        <a:t>클래식 및 교회 성가 중심</a:t>
                      </a:r>
                    </a:p>
                  </a:txBody>
                </a:tc>
                <a:tc>
                  <a:txBody>
                    <a:bodyPr/>
                    <a:lstStyle/>
                    <a:p>
                      <a:pPr lvl="0" indent="0" marL="0" algn="l">
                        <a:buNone/>
                      </a:pPr>
                      <a:r>
                        <a:rPr/>
                        <a:t>경건함과 전통성 강조</a:t>
                      </a:r>
                    </a:p>
                  </a:txBody>
                </a:tc>
              </a:tr>
              <a:tr h="0">
                <a:tc>
                  <a:txBody>
                    <a:bodyPr/>
                    <a:lstStyle/>
                    <a:p>
                      <a:pPr lvl="0" indent="0" marL="0" algn="l">
                        <a:buNone/>
                      </a:pPr>
                      <a:r>
                        <a:rPr/>
                        <a:t>참여도</a:t>
                      </a:r>
                    </a:p>
                  </a:txBody>
                </a:tc>
                <a:tc>
                  <a:txBody>
                    <a:bodyPr/>
                    <a:lstStyle/>
                    <a:p>
                      <a:pPr lvl="0" indent="0" marL="0" algn="l">
                        <a:buNone/>
                      </a:pPr>
                      <a:r>
                        <a:rPr/>
                        <a:t>대중적인 캐럴 합창 문화</a:t>
                      </a:r>
                    </a:p>
                  </a:txBody>
                </a:tc>
                <a:tc>
                  <a:txBody>
                    <a:bodyPr/>
                    <a:lstStyle/>
                    <a:p>
                      <a:pPr lvl="0" indent="0" marL="0" algn="l">
                        <a:buNone/>
                      </a:pPr>
                      <a:r>
                        <a:rPr/>
                        <a:t>공동체 의식 고취</a:t>
                      </a:r>
                    </a:p>
                  </a:txBody>
                </a:tc>
              </a:tr>
            </a:tbl>
          </a:graphicData>
        </a:graphic>
      </p:graphicFrame>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현대적 변화와 K-트렌드</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진화하는 마켓과 한국 문화의 접목</a:t>
            </a:r>
          </a:p>
        </p:txBody>
      </p:sp>
      <p:sp>
        <p:nvSpPr>
          <p:cNvPr id="4" name="Text Placeholder 3"/>
          <p:cNvSpPr>
            <a:spLocks noGrp="1"/>
          </p:cNvSpPr>
          <p:nvPr>
            <p:ph idx="2" sz="half" type="body"/>
          </p:nvPr>
        </p:nvSpPr>
        <p:spPr/>
        <p:txBody>
          <a:bodyPr/>
          <a:lstStyle/>
          <a:p>
            <a:pPr lvl="0"/>
            <a:r>
              <a:rPr/>
              <a:t>건강을 중시하는 흐름에 맞춰 채식 코너가 등장하는 마켓의 변화</a:t>
            </a:r>
          </a:p>
          <a:p>
            <a:pPr lvl="0"/>
            <a:r>
              <a:rPr/>
              <a:t>베를린 등 대도시 마켓에서 한국 관련 샵과 제품이 급증하는 추세</a:t>
            </a:r>
          </a:p>
          <a:p>
            <a:pPr lvl="0"/>
            <a:r>
              <a:rPr/>
              <a:t>인삼을 넣은 글뤼바인 등 동서양 미식이 결합된 혁신적인 상품 출시</a:t>
            </a:r>
          </a:p>
          <a:p>
            <a:pPr lvl="0"/>
            <a:r>
              <a:rPr/>
              <a:t>뮌헨 공대 양조학 출신이 쾰른에서 생산하는 고품질 한국 소주 등장</a:t>
            </a:r>
          </a:p>
          <a:p>
            <a:pPr lvl="0"/>
            <a:r>
              <a:rPr/>
              <a:t>상업성을 넘어 진정성 있는 소확행을 추구하는 현대적 성탄 문화</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예시 사례: 현대적 진화</a:t>
                      </a:r>
                    </a:p>
                  </a:txBody>
                  <a:tcPr/>
                </a:tc>
                <a:tc>
                  <a:txBody>
                    <a:bodyPr/>
                    <a:lstStyle/>
                    <a:p>
                      <a:pPr lvl="0" indent="0" marL="0" algn="l">
                        <a:buNone/>
                      </a:pPr>
                      <a:r>
                        <a:rPr/>
                        <a:t>내용 상세</a:t>
                      </a:r>
                    </a:p>
                  </a:txBody>
                  <a:tcPr/>
                </a:tc>
              </a:tr>
              <a:tr h="0">
                <a:tc>
                  <a:txBody>
                    <a:bodyPr/>
                    <a:lstStyle/>
                    <a:p>
                      <a:pPr lvl="0" indent="0" marL="0" algn="l">
                        <a:buNone/>
                      </a:pPr>
                      <a:r>
                        <a:rPr/>
                        <a:t>채식 메뉴 도입</a:t>
                      </a:r>
                    </a:p>
                  </a:txBody>
                </a:tc>
                <a:tc>
                  <a:txBody>
                    <a:bodyPr/>
                    <a:lstStyle/>
                    <a:p>
                      <a:pPr lvl="0" indent="0" marL="0" algn="l">
                        <a:buNone/>
                      </a:pPr>
                      <a:r>
                        <a:rPr/>
                        <a:t>전통적인 육류 위주에서 채식 옵션으로 다양화</a:t>
                      </a:r>
                    </a:p>
                  </a:txBody>
                </a:tc>
              </a:tr>
              <a:tr h="0">
                <a:tc>
                  <a:txBody>
                    <a:bodyPr/>
                    <a:lstStyle/>
                    <a:p>
                      <a:pPr lvl="0" indent="0" marL="0" algn="l">
                        <a:buNone/>
                      </a:pPr>
                      <a:r>
                        <a:rPr/>
                        <a:t>하루 소주(Haru Soju)</a:t>
                      </a:r>
                    </a:p>
                  </a:txBody>
                </a:tc>
                <a:tc>
                  <a:txBody>
                    <a:bodyPr/>
                    <a:lstStyle/>
                    <a:p>
                      <a:pPr lvl="0" indent="0" marL="0" algn="l">
                        <a:buNone/>
                      </a:pPr>
                      <a:r>
                        <a:rPr/>
                        <a:t>독일 현지 공정으로 생산되는 프리미엄 한국 술</a:t>
                      </a:r>
                    </a:p>
                  </a:txBody>
                </a:tc>
              </a:tr>
              <a:tr h="0">
                <a:tc>
                  <a:txBody>
                    <a:bodyPr/>
                    <a:lstStyle/>
                    <a:p>
                      <a:pPr lvl="0" indent="0" marL="0" algn="l">
                        <a:buNone/>
                      </a:pPr>
                      <a:r>
                        <a:rPr/>
                        <a:t>인삼 글루바인</a:t>
                      </a:r>
                    </a:p>
                  </a:txBody>
                </a:tc>
                <a:tc>
                  <a:txBody>
                    <a:bodyPr/>
                    <a:lstStyle/>
                    <a:p>
                      <a:pPr lvl="0" indent="0" marL="0" algn="l">
                        <a:buNone/>
                      </a:pPr>
                      <a:r>
                        <a:rPr/>
                        <a:t>한국의 건강 식재료를 접목한 퓨전 겨울 음료</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2025-12-24T06:31:37Z</dcterms:created>
  <dcterms:modified xsi:type="dcterms:W3CDTF">2025-12-24T06:31:37Z</dcterms:modified>
</cp:coreProperties>
</file>

<file path=docProps/custom.xml><?xml version="1.0" encoding="utf-8"?>
<Properties xmlns="http://schemas.openxmlformats.org/officeDocument/2006/custom-properties" xmlns:vt="http://schemas.openxmlformats.org/officeDocument/2006/docPropsVTypes"/>
</file>