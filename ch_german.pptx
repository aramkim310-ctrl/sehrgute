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독일 크리스마스의 마법: 전통과 문화 완벽 가이드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1페이지: 독일 크리스마스 시즌의 시작과 의미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독일에서 크리스마스는 단순한 하루의 행사가 아니라 </a:t>
            </a:r>
            <a:r>
              <a:rPr b="1"/>
              <a:t>’신성한 밤들’이라는 뜻의 바이나흐텐(Weihnachten)</a:t>
            </a:r>
            <a:r>
              <a:rPr/>
              <a:t>으로 불리는 긴 축제 기간입니다. 어둡고 칙칙한 독일의 겨울을 따뜻하게 밝히는 이 시기는 가족과 이웃이 함께 모여 유대를 다지는 가장 큰 명절입니다. 특히 12월 내내 이어지는 다양한 관습과 준비 과정은 독일인들에게 삶의 에너지를 충전하는 중요한 의식입니다.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관련 내용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공식 명칭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바이나흐텐 (Weihnachten)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’신성한 밤들’이라는 복수형 명칭 사용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준비 기간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대림절 (Advent)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성탄 전 4주간의 준비 기간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주요 장소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크리스마스 마켓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도시마다 열리는 지역 사회의 중심지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독일 크리스마스의 복합적 명칭 이해</a:t>
            </a:r>
            <a:r>
              <a:rPr/>
              <a:t>: ’바이나흐텐’은 단수형이 아닌 복수형으로 불리며 한 달 내내 이어지는 축제임을 상징함.</a:t>
            </a:r>
          </a:p>
          <a:p>
            <a:pPr lvl="0"/>
            <a:r>
              <a:rPr b="1"/>
              <a:t>어두운 겨울을 견디는 마법의 힘</a:t>
            </a:r>
            <a:r>
              <a:rPr/>
              <a:t>: 11월부터 시작되는 우울한 날씨와 비바람을 이겨내게 하는 정서적 버팀목 역할을 수행함.</a:t>
            </a:r>
          </a:p>
          <a:p>
            <a:pPr lvl="0"/>
            <a:r>
              <a:rPr b="1"/>
              <a:t>가족 중심의 민족적 대이동</a:t>
            </a:r>
            <a:r>
              <a:rPr/>
              <a:t>: 크리스마스 시즌이 되면 베를린과 같은 대도시가 텅 빌 정도로 가족을 만나러 가는 전통임.</a:t>
            </a:r>
          </a:p>
          <a:p>
            <a:pPr lvl="0"/>
            <a:r>
              <a:rPr b="1"/>
              <a:t>종교적 유산과 관습의 결합</a:t>
            </a:r>
            <a:r>
              <a:rPr/>
              <a:t>: 기독교 전통인 대림절을 바탕으로 초를 켜고 달력을 여는 등 고유의 문화가 정착된 모습임.</a:t>
            </a:r>
          </a:p>
          <a:p>
            <a:pPr lvl="0"/>
            <a:r>
              <a:rPr b="1"/>
              <a:t>마켓을 통한 공동체 의식 고취</a:t>
            </a:r>
            <a:r>
              <a:rPr/>
              <a:t>: 동네마다 열리는 크리스마스 마켓은 장인들의 수공예품과 음식을 나누는 교류의 장이 됨.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2페이지: 대림절(Advent)의 전통과 일요일의 의식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독일의 크리스마스는 </a:t>
            </a:r>
            <a:r>
              <a:rPr b="1"/>
              <a:t>대림절(Advent)의 시작</a:t>
            </a:r>
            <a:r>
              <a:rPr/>
              <a:t>과 함께 본격화됩니다. 성탄절 전 네 번의 일요일을 거꾸로 계산하여 시작되는 이 기간에는 매주 일요일마다 특별한 의식을 치릅니다. 이는 예수 그리스도의 탄생을 기다리는 경건한 기다림의 시간인 동시에 가족들이 함께 모여 차를 마시고 대화를 나누는 소중한 기회입니다.</a:t>
            </a:r>
          </a:p>
          <a:p>
            <a:pPr lvl="0" indent="0" marL="0">
              <a:buNone/>
            </a:pPr>
            <a:r>
              <a:rPr b="1"/>
              <a:t>[대림절 진행 과정 시각화]</a:t>
            </a:r>
            <a:r>
              <a:rPr/>
              <a:t> </a:t>
            </a:r>
            <a:r>
              <a:rPr>
                <a:latin typeface="Courier"/>
              </a:rPr>
              <a:t>1주차: 초 1개 점화</a:t>
            </a:r>
            <a:r>
              <a:rPr/>
              <a:t> -&gt; </a:t>
            </a:r>
            <a:r>
              <a:rPr>
                <a:latin typeface="Courier"/>
              </a:rPr>
              <a:t>2주차: 초 2개 점화</a:t>
            </a:r>
            <a:r>
              <a:rPr/>
              <a:t> -&gt; </a:t>
            </a:r>
            <a:r>
              <a:rPr>
                <a:latin typeface="Courier"/>
              </a:rPr>
              <a:t>3주차: 초 3개 점화</a:t>
            </a:r>
            <a:r>
              <a:rPr/>
              <a:t> -&gt; </a:t>
            </a:r>
            <a:r>
              <a:rPr>
                <a:latin typeface="Courier"/>
              </a:rPr>
              <a:t>4주차: 초 4개 점화</a:t>
            </a:r>
            <a:r>
              <a:rPr/>
              <a:t> -&gt; </a:t>
            </a:r>
            <a:r>
              <a:rPr>
                <a:latin typeface="Courier"/>
              </a:rPr>
              <a:t>성탄절</a:t>
            </a:r>
          </a:p>
          <a:p>
            <a:pPr lvl="0"/>
            <a:r>
              <a:rPr b="1"/>
              <a:t>대림절의 어원과 기간의 설정</a:t>
            </a:r>
            <a:r>
              <a:rPr/>
              <a:t>: 독일어로 ’아트펜트’라 불리며 성탄 전 4주간을 의미하는 종교적 배경을 가짐.</a:t>
            </a:r>
          </a:p>
          <a:p>
            <a:pPr lvl="0"/>
            <a:r>
              <a:rPr b="1"/>
              <a:t>매주 일요일 초를 켜는 의식</a:t>
            </a:r>
            <a:r>
              <a:rPr/>
              <a:t>: 네 개의 초를 준비하여 크리스마스가 다가올수록 더 밝은 빛을 밝히는 상징적 행위임.</a:t>
            </a:r>
          </a:p>
          <a:p>
            <a:pPr lvl="0"/>
            <a:r>
              <a:rPr b="1"/>
              <a:t>가족 모임의 빈도 급증 현상</a:t>
            </a:r>
            <a:r>
              <a:rPr/>
              <a:t>: 대림절 기간에는 멀리 있는 친척이나 지인들과의 약속이 폭발적으로 늘어나 정을 나눔.</a:t>
            </a:r>
          </a:p>
          <a:p>
            <a:pPr lvl="0"/>
            <a:r>
              <a:rPr b="1"/>
              <a:t>소박한 선물 교환의 문화</a:t>
            </a:r>
            <a:r>
              <a:rPr/>
              <a:t>: 5~10유로 내외의 작은 선물이나 엽서를 주고받으며 부담 없는 마음을 전하는 시기임.</a:t>
            </a:r>
          </a:p>
          <a:p>
            <a:pPr lvl="0"/>
            <a:r>
              <a:rPr b="1"/>
              <a:t>경건한 기다림과 행복의 조화</a:t>
            </a:r>
            <a:r>
              <a:rPr/>
              <a:t>: 일요일마다 초를 켜며 성경을 읽거나 나만의 의식을 통해 평온함을 찾는 과정임.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3페이지: 어드벤트 크란츠(Advent Kranz)의 세계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어드벤트 크란츠(Adventskranz)</a:t>
            </a:r>
            <a:r>
              <a:rPr/>
              <a:t>는 대림절 화환으로, 독일 가정의 크리스마스 장식 중 가장 핵심적인 요소입니다. 전나무 잎으로 만든 녹색 화환에 네 개의 초를 꽂아 만드는데, 이는 루터교의 관습에서 시작되어 현재는 보편적인 전통으로 자리 잡았습니다. 직접 재료를 사서 만드는 손재주 좋은 독일인들의 모습도 흔히 볼 수 있습니다.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구성 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상징 및 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녹색 화환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전나무 잎 (영원한 생명)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전통적으로 솔방울, 시나몬 등으로 장식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4개의 양초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대림절 4주간의 경과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주로 빨간색 초를 사용하나 취향에 따라 다양함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장식물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말린 과일, 구슬, 리본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장인의 손길이나 개인의 취향을 반영함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전통적인 디자인과 소재의 선택</a:t>
            </a:r>
            <a:r>
              <a:rPr/>
              <a:t>: 전나무 잎과 빨간 초를 기본으로 솔방울과 시나몬 스틱을 활용한 클래식한 스타일임.</a:t>
            </a:r>
          </a:p>
          <a:p>
            <a:pPr lvl="0"/>
            <a:r>
              <a:rPr b="1"/>
              <a:t>현대적으로 진화하는 화환의 형태</a:t>
            </a:r>
            <a:r>
              <a:rPr/>
              <a:t>: 금색이나 은색 초, 장식 볼 등을 사용하여 모던하고 시크하게 꾸미기도 함.</a:t>
            </a:r>
          </a:p>
          <a:p>
            <a:pPr lvl="0"/>
            <a:r>
              <a:rPr b="1"/>
              <a:t>직접 제작하는 핸드메이드 열풍</a:t>
            </a:r>
            <a:r>
              <a:rPr/>
              <a:t>: 꽃집에서 완제품을 사기도 하지만 재료를 구입해 자신만의 화환을 만드는 문화가 발달함.</a:t>
            </a:r>
          </a:p>
          <a:p>
            <a:pPr lvl="0"/>
            <a:r>
              <a:rPr b="1"/>
              <a:t>시즌 한정의 폭발적인 수요</a:t>
            </a:r>
            <a:r>
              <a:rPr/>
              <a:t>: 대림절 시작 2~4주 전부터 꽃집이 공장처럼 가동될 정도로 대중적인 인기 아이템임.</a:t>
            </a:r>
          </a:p>
          <a:p>
            <a:pPr lvl="0"/>
            <a:r>
              <a:rPr b="1"/>
              <a:t>은은한 향기를 통한 심신 안정</a:t>
            </a:r>
            <a:r>
              <a:rPr/>
              <a:t>: 솔잎과 솔방울에서 나오는 천연 향기가 집안을 채워 정서적 만족감을 선사함.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4페이지: 아이들의 즐거움, 어드벤트 캘린더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어드벤트 캘린더(Adventskalender)</a:t>
            </a:r>
            <a:r>
              <a:rPr/>
              <a:t>는 12월 1일부터 24일까지 매일 하나씩 창문을 열어보며 크리스마스를 기다리는 달력입니다. 각 숫자 뒤에는 작은 초콜릿이나 선물이 숨겨져 있어 아이들에게는 인내심을 배우는 동시에 매일의 기쁨을 줍니다. 최근에는 어른들을 위한 차(Tea) 캘린더나 화장품 캘린더 등 다양한 상품으로 진화하고 있습니다.</a:t>
            </a:r>
          </a:p>
          <a:p>
            <a:pPr lvl="0" indent="0" marL="0">
              <a:buNone/>
            </a:pPr>
            <a:r>
              <a:rPr b="1"/>
              <a:t>[캘린더 구조 시각화]</a:t>
            </a:r>
          </a:p>
          <a:p>
            <a:pPr lvl="0" indent="0">
              <a:buNone/>
            </a:pPr>
            <a:r>
              <a:rPr>
                <a:latin typeface="Courier"/>
              </a:rPr>
              <a:t>[ 1] [ 2] [ 3] [ 4] [ 5] [ 6] 
[ 7] [ 8] [ 9]
 &lt;- 가장 큰 선물!</a:t>
            </a:r>
          </a:p>
          <a:p>
            <a:pPr lvl="0"/>
            <a:r>
              <a:rPr b="1"/>
              <a:t>매일 반복되는 소소한 행복</a:t>
            </a:r>
            <a:r>
              <a:rPr/>
              <a:t>: 12월 1일부터 24일까지 숫자를 찾아 창문을 열고 초콜릿을 꺼내 먹는 재미임.</a:t>
            </a:r>
          </a:p>
          <a:p>
            <a:pPr lvl="0"/>
            <a:r>
              <a:rPr b="1"/>
              <a:t>마지막 날의 특별한 보상</a:t>
            </a:r>
            <a:r>
              <a:rPr/>
              <a:t>: 24일은 예수 탄생 전날로 가장 크고 맛있는 초콜릿이나 선물이 들어있는 것이 관례임.</a:t>
            </a:r>
          </a:p>
          <a:p>
            <a:pPr lvl="0"/>
            <a:r>
              <a:rPr b="1"/>
              <a:t>어른들에게도 이어지는 동심</a:t>
            </a:r>
            <a:r>
              <a:rPr/>
              <a:t>: 어린 시절의 추억을 바탕으로 성인들도 각자의 취향에 맞는 캘린더를 장만하여 즐김.</a:t>
            </a:r>
          </a:p>
          <a:p>
            <a:pPr lvl="0"/>
            <a:r>
              <a:rPr b="1"/>
              <a:t>다양한 브랜드의 마케팅 경쟁</a:t>
            </a:r>
            <a:r>
              <a:rPr/>
              <a:t>: 화장품, 차, 장난감 등 여러 분야에서 시즌 한정 스페셜 캘린더를 출시하여 인기를 끎.</a:t>
            </a:r>
          </a:p>
          <a:p>
            <a:pPr lvl="0"/>
            <a:r>
              <a:rPr b="1"/>
              <a:t>직접 꾸미는 DIY 캘린더</a:t>
            </a:r>
            <a:r>
              <a:rPr/>
              <a:t>: 기성품뿐만 아니라 주머니나 봉투를 활용해 부모가 직접 아이를 위해 달력을 제작함.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5페이지: 성 니콜라우스 데이 (12월 6일)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독일의 산타클로스는 12월 24일이 아닌 </a:t>
            </a:r>
            <a:r>
              <a:rPr b="1"/>
              <a:t>12월 6일</a:t>
            </a:r>
            <a:r>
              <a:rPr/>
              <a:t>에 찾아옵니다. 이를 </a:t>
            </a:r>
            <a:r>
              <a:rPr b="1"/>
              <a:t>니콜라우스 데이(Nikolaustag)</a:t>
            </a:r>
            <a:r>
              <a:rPr/>
              <a:t>라고 부르는데, 4세기 기독교 주교였던 성 니콜라우스의 자선 활동에서 유래했습니다. 아이들은 12월 5일 밤에 부츠를 깨끗하게 닦아 문 앞에 놓으며, 다음 날 아침 그 안에 담긴 선물과 사탕을 발견하게 됩니다.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비교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성 니콜라우스 (독일)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산타클로스 (미국식)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방문 날짜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12월 6일 새벽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12월 24일 밤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선물 장소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문 앞의 부츠(장화)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벽난로의 양말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의상 특징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주교의 복장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빨간 옷과 모자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전통적인 부츠 닦기 의식</a:t>
            </a:r>
            <a:r>
              <a:rPr/>
              <a:t>: 아이들이 자신의 장화를 정성껏 닦아 문밖에 내놓으며 선물을 기다리는 순수한 풍습임.</a:t>
            </a:r>
          </a:p>
          <a:p>
            <a:pPr lvl="0"/>
            <a:r>
              <a:rPr b="1"/>
              <a:t>산타클로스의 실질적인 원형</a:t>
            </a:r>
            <a:r>
              <a:rPr/>
              <a:t>: 성 니콜라우스라는 인물에서 현재의 산타 이미지가 파생되었음을 알 수 있는 역사임.</a:t>
            </a:r>
          </a:p>
          <a:p>
            <a:pPr lvl="0"/>
            <a:r>
              <a:rPr b="1"/>
              <a:t>가벼운 선물 위주의 교환</a:t>
            </a:r>
            <a:r>
              <a:rPr/>
              <a:t>: 초콜릿, 쿠키, 과일(사과) 등 이웃과 부담 없이 나눌 수 있는 작은 정성을 주고받음.</a:t>
            </a:r>
          </a:p>
          <a:p>
            <a:pPr lvl="0"/>
            <a:r>
              <a:rPr b="1"/>
              <a:t>이웃 간의 정을 확인하는 계기</a:t>
            </a:r>
            <a:r>
              <a:rPr/>
              <a:t>: 현관 앞에 놓인 부츠와 선물을 보며 공동체의 따뜻함을 느끼는 정겨운 풍경임.</a:t>
            </a:r>
          </a:p>
          <a:p>
            <a:pPr lvl="0"/>
            <a:r>
              <a:rPr b="1"/>
              <a:t>독일만의 독자적인 명칭 유지</a:t>
            </a:r>
            <a:r>
              <a:rPr/>
              <a:t>: 산타클로스라는 상업적 명칭 대신 ’니콜라우스’라는 본래의 이름을 그대로 불러 존경함.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6페이지: 크리스마스 마켓의 분위기와 마법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독일의 크리스마스 마켓은 </a:t>
            </a:r>
            <a:r>
              <a:rPr b="1"/>
              <a:t>토텐존타크(Totensonntag)</a:t>
            </a:r>
            <a:r>
              <a:rPr/>
              <a:t> 다음 날부터 일제히 개장합니다. 수공예품, 전통 음식, 화려한 조명이 어우러진 이 시장은 독일인들의 겨울나기에 없어서는 안 될 마법 같은 공간입니다. 방문객들은 추운 날씨 속에서도 따뜻한 불빛과 음악을 즐기며 일상의 스트레스를 해소합니다.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활동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불빛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화려한 전구와 캔들 장식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어두운 밤을 낮처럼 밝히는 시각적 즐거움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음악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고유의 캐럴과 라이브 연주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신명 나는 분위기와 향수를 불러일으키는 청각 요소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천사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장대를 탄 천사들의 퍼포먼스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베를린 등 대형 마켓에서 볼 수 있는 특별한 볼거리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겨울철 우울함을 물리치는 에너지</a:t>
            </a:r>
            <a:r>
              <a:rPr/>
              <a:t>: 비바람 속에서도 마켓을 찾아 기름진 음식과 단것으로 영혼을 달래는 공간임.</a:t>
            </a:r>
          </a:p>
          <a:p>
            <a:pPr lvl="0"/>
            <a:r>
              <a:rPr b="1"/>
              <a:t>오감을 자극하는 축제의 현장</a:t>
            </a:r>
            <a:r>
              <a:rPr/>
              <a:t>: 고소한 냄새, 반짝이는 장식, 경쾌한 소리가 어우러져 동화 같은 풍경을 연출함.</a:t>
            </a:r>
          </a:p>
          <a:p>
            <a:pPr lvl="0"/>
            <a:r>
              <a:rPr b="1"/>
              <a:t>세계적인 관광 명소로의 진화</a:t>
            </a:r>
            <a:r>
              <a:rPr/>
              <a:t>: 전통적인 독일 음식을 넘어 전 세계의 길거리 음식이 모이는 국제적 장터가 됨.</a:t>
            </a:r>
          </a:p>
          <a:p>
            <a:pPr lvl="0"/>
            <a:r>
              <a:rPr b="1"/>
              <a:t>장인정신이 깃든 수공예품 판매</a:t>
            </a:r>
            <a:r>
              <a:rPr/>
              <a:t>: 목각 인형, 비누, 향초 등 지역 예술가들이 직접 만든 독특한 물건들을 구매함.</a:t>
            </a:r>
          </a:p>
          <a:p>
            <a:pPr lvl="0"/>
            <a:r>
              <a:rPr b="1"/>
              <a:t>천사의 축복과 파란 구슬</a:t>
            </a:r>
            <a:r>
              <a:rPr/>
              <a:t>: 천사들이 커플들에게 초콜릿이 든 파란 구슬을 나눠주며 낭만적인 분위기를 조성함.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7페이지: 독일 마켓 음식 (1) - 슈뱅커와 소시지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크리스마스 마켓에서 </a:t>
            </a:r>
            <a:r>
              <a:rPr b="1"/>
              <a:t>소시지(Bratwurst)</a:t>
            </a:r>
            <a:r>
              <a:rPr/>
              <a:t>를 빼놓는 것은 불가능합니다. 특히 삼각대에 매달린 회전 그릴 위에서 구워지는 </a:t>
            </a:r>
            <a:r>
              <a:rPr b="1"/>
              <a:t>슈뱅커(Schwenker)</a:t>
            </a:r>
            <a:r>
              <a:rPr/>
              <a:t>는 시각적 즐거움까지 더해주는 대표적인 메뉴입니다. 숯불 위에서 그네를 타듯 익어가는 소시지는 겉은 바삭하고 속은 촉촉한 맛을 자랑합니다.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소시지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먹는 방법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뉘른베르크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작은 사이즈로 한 번에 여러 개 섭취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바삭한 롤 빵 사이에 끼워 먹음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튀링겐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두툼하고 빵 속에 꽉 차는 사이즈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겨자, 카레, 케첩 소스 등을 뿌림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슈뱅커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회전 그릴에서 구운 고기와 소시지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은은한 숯불 향이 베어있는 것이 특징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회전 그릴을 통한 균일한 조리</a:t>
            </a:r>
            <a:r>
              <a:rPr/>
              <a:t>: 소시지가 타지 않고 고르게 익도록 삼각대 그릴을 흔들며 굽는 독특한 방식임.</a:t>
            </a:r>
          </a:p>
          <a:p>
            <a:pPr lvl="0"/>
            <a:r>
              <a:rPr b="1"/>
              <a:t>광부들의 전통에서 유래한 요리</a:t>
            </a:r>
            <a:r>
              <a:rPr/>
              <a:t>: 잘란트 지방 광부들이 처음 제작하여 사용한 것으로 전해지는 역사적인 구이법임.</a:t>
            </a:r>
          </a:p>
          <a:p>
            <a:pPr lvl="0"/>
            <a:r>
              <a:rPr b="1"/>
              <a:t>불구경의 즐거움을 주는 대기 시간</a:t>
            </a:r>
            <a:r>
              <a:rPr/>
              <a:t>: 타오르는 화덕 위에서 익어가는 소시지를 바라보며 식욕을 돋우는 과정임.</a:t>
            </a:r>
          </a:p>
          <a:p>
            <a:pPr lvl="0"/>
            <a:r>
              <a:rPr b="1"/>
              <a:t>일상적인 길거리 음식의 최고봉</a:t>
            </a:r>
            <a:r>
              <a:rPr/>
              <a:t>: 한국의 김밥처럼 독일인들에게 가장 대중적이고 든든한 끼니 해결 수단임.</a:t>
            </a:r>
          </a:p>
          <a:p>
            <a:pPr lvl="0"/>
            <a:r>
              <a:rPr b="1"/>
              <a:t>바삭한 롤 빵과의 완벽한 조화</a:t>
            </a:r>
            <a:r>
              <a:rPr/>
              <a:t>: 갓 구운 소시지를 빵 사이에 넣어 소스와 함께 먹는 소박하지만 강렬한 맛임.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8페이지: 독일 마켓 음식 (2) - 라이베쿠흔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라이베쿠흔(Reiberkuchen)</a:t>
            </a:r>
            <a:r>
              <a:rPr/>
              <a:t> 또는 카르토펠푸퍼(Kartoffelpuffer)는 독일식 감자 팬케이크입니다. 으깬 감자에 달걀, 우유 등을 넣어 노릇하게 튀겨낸 이 요리는 특히 사과 소스와 곁들여 먹는 것이 정석입니다. 기름지고 고소한 맛 덕분에 추운 밤 마켓을 돌아다닐 에너지를 즉각적으로 공급해 줍니다.</a:t>
            </a:r>
          </a:p>
          <a:p>
            <a:pPr lvl="0" indent="0" marL="0">
              <a:buNone/>
            </a:pPr>
            <a:r>
              <a:rPr b="1"/>
              <a:t>[라이베쿠흔 구성 시각화]</a:t>
            </a:r>
            <a:r>
              <a:rPr/>
              <a:t> </a:t>
            </a:r>
            <a:r>
              <a:rPr>
                <a:latin typeface="Courier"/>
              </a:rPr>
              <a:t>바삭한 감자 튀김</a:t>
            </a:r>
            <a:r>
              <a:rPr/>
              <a:t> + </a:t>
            </a:r>
            <a:r>
              <a:rPr>
                <a:latin typeface="Courier"/>
              </a:rPr>
              <a:t>달콤한 사과 소스(Apfelmus)</a:t>
            </a:r>
            <a:r>
              <a:rPr/>
              <a:t> = </a:t>
            </a:r>
            <a:r>
              <a:rPr>
                <a:latin typeface="Courier"/>
              </a:rPr>
              <a:t>환상의 단짠 조합</a:t>
            </a:r>
          </a:p>
          <a:p>
            <a:pPr lvl="0"/>
            <a:r>
              <a:rPr b="1"/>
              <a:t>겉바속촉의 대명사인 감자 요리</a:t>
            </a:r>
            <a:r>
              <a:rPr/>
              <a:t>: 기름에 튀기듯 구워내어 겉은 바삭하고 속은 부드러운 감자의 풍미가 일품임.</a:t>
            </a:r>
          </a:p>
          <a:p>
            <a:pPr lvl="0"/>
            <a:r>
              <a:rPr b="1"/>
              <a:t>사과 소스와의 의외의 찰떡궁합</a:t>
            </a:r>
            <a:r>
              <a:rPr/>
              <a:t>: 자칫 느끼할 수 있는 튀김 맛을 사과 소스의 상큼함이 중화시켜주는 조화임.</a:t>
            </a:r>
          </a:p>
          <a:p>
            <a:pPr lvl="0"/>
            <a:r>
              <a:rPr b="1"/>
              <a:t>고칼로리를 통한 겨울철 체온 유지</a:t>
            </a:r>
            <a:r>
              <a:rPr/>
              <a:t>: 높은 칼로리를 자랑하여 추위 속에서도 몸을 따뜻하게 유지하는 데 도움을 줌.</a:t>
            </a:r>
          </a:p>
          <a:p>
            <a:pPr lvl="0"/>
            <a:r>
              <a:rPr b="1"/>
              <a:t>글루바인 섭취 전 든든한 속 채우기</a:t>
            </a:r>
            <a:r>
              <a:rPr/>
              <a:t>: 알코올이 들어간 따뜻한 와인을 마시기 전 위장을 보호하기에 적합한 음식임.</a:t>
            </a:r>
          </a:p>
          <a:p>
            <a:pPr lvl="0"/>
            <a:r>
              <a:rPr b="1"/>
              <a:t>중독성 강한 고소한 냄새의 유혹</a:t>
            </a:r>
            <a:r>
              <a:rPr/>
              <a:t>: 마켓 가득 퍼지는 기름진 냄새에 이끌려 하나만 먹고 멈추기 힘든 마력의 간식임.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9페이지: 독일 마켓 음식 (3) - 군밤과 향수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길거리 음식이 드문 독일에서 </a:t>
            </a:r>
            <a:r>
              <a:rPr b="1"/>
              <a:t>군밤(Geröstete Maronen)</a:t>
            </a:r>
            <a:r>
              <a:rPr/>
              <a:t>을 볼 수 있는 곳은 크리스마스 마켓이 유일합니다. 커다란 화덕에서 구워지는 엄청난 양의 밤은 풍성한 축제의 느낌을 줍니다. 비록 가격에 비해 양이 적어 아쉬움을 주기도 하지만, 추억을 불러일으키는 향기 때문에 많은 이들이 즐겨 찾습니다.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상세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판매처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밤 전용 통나무집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마켓 시즌에만 등장하는 특별 상점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조리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커다란 화덕에서의 직화 구이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눈앞에서 직접 굽는 과정을 보여줌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정서적 가치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고향에 대한 향수와 따뜻함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가족과 둘러앉아 밤을 먹던 기억을 소환함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시각적인 풍요로움을 주는 밤 자루</a:t>
            </a:r>
            <a:r>
              <a:rPr/>
              <a:t>: 주렁주렁 매달린 밤 자루들이 마켓의 풍성함과 축제 분위기를 한층 고조시킴.</a:t>
            </a:r>
          </a:p>
          <a:p>
            <a:pPr lvl="0"/>
            <a:r>
              <a:rPr b="1"/>
              <a:t>기업화된 세상에서 찾은 소박함</a:t>
            </a:r>
            <a:r>
              <a:rPr/>
              <a:t>: 껍질째 구워지는 밤을 보며 인스턴트 식품에 익숙해진 현대인들이 위안을 얻음.</a:t>
            </a:r>
          </a:p>
          <a:p>
            <a:pPr lvl="0"/>
            <a:r>
              <a:rPr b="1"/>
              <a:t>차가운 손을 녹여주는 따뜻한 봉투</a:t>
            </a:r>
            <a:r>
              <a:rPr/>
              <a:t>: 갓 구운 밤이 담긴 종이봉투를 쥐고 마켓을 걷는 것은 겨울의 낭만임.</a:t>
            </a:r>
          </a:p>
          <a:p>
            <a:pPr lvl="0"/>
            <a:r>
              <a:rPr b="1"/>
              <a:t>한국인들에게도 친숙한 겨울 풍경</a:t>
            </a:r>
            <a:r>
              <a:rPr/>
              <a:t>: 한국의 군밤 장수와 겹쳐 보이는 이미지로 타국 생활의 외로움을 달래줌.</a:t>
            </a:r>
          </a:p>
          <a:p>
            <a:pPr lvl="0"/>
            <a:r>
              <a:rPr b="1"/>
              <a:t>적은 양에 대한 소소한 쓰라림</a:t>
            </a:r>
            <a:r>
              <a:rPr/>
              <a:t>: 1인분 봉지 안에 들어있는 밤알이 생각보다 적어 마음이 급격히 가난해지는 경험임.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10페이지: 독일 마켓 음식 (4) - 라클래트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라클래트(Raclette)</a:t>
            </a:r>
            <a:r>
              <a:rPr/>
              <a:t>는 치즈를 녹여 빵이나 감자 위에 얹어 먹는 단순하면서도 고급스러운 요리입니다. 마켓 곳곳에서 풍기는 꼬릿한 치즈 냄새는 라클래트 가게의 위치를 알려주는 지표가 됩니다. 커다란 통치즈를 통째로 가열하여 긁어내는 모습은 그 자체로 훌륭한 볼거리를 제공합니다.</a:t>
            </a:r>
          </a:p>
          <a:p>
            <a:pPr lvl="0" indent="0" marL="0">
              <a:buNone/>
            </a:pPr>
            <a:r>
              <a:rPr b="1"/>
              <a:t>[라클래트 조리 과정 시각화]</a:t>
            </a:r>
            <a:r>
              <a:rPr/>
              <a:t> </a:t>
            </a:r>
            <a:r>
              <a:rPr>
                <a:latin typeface="Courier"/>
              </a:rPr>
              <a:t>통치즈 단면 가열</a:t>
            </a:r>
            <a:r>
              <a:rPr/>
              <a:t> -&gt; </a:t>
            </a:r>
            <a:r>
              <a:rPr>
                <a:latin typeface="Courier"/>
              </a:rPr>
              <a:t>녹아내린 치즈 긁기</a:t>
            </a:r>
            <a:r>
              <a:rPr/>
              <a:t> -&gt; </a:t>
            </a:r>
            <a:r>
              <a:rPr>
                <a:latin typeface="Courier"/>
              </a:rPr>
              <a:t>구운 바게트 위에 덮기</a:t>
            </a:r>
            <a:r>
              <a:rPr/>
              <a:t> -&gt; </a:t>
            </a:r>
            <a:r>
              <a:rPr>
                <a:latin typeface="Courier"/>
              </a:rPr>
              <a:t>취향껏 토핑(마늘 등)</a:t>
            </a:r>
          </a:p>
          <a:p>
            <a:pPr lvl="0"/>
            <a:r>
              <a:rPr b="1"/>
              <a:t>단순함이 만들어내는 최고의 풍미</a:t>
            </a:r>
            <a:r>
              <a:rPr/>
              <a:t>: 치즈를 녹이기만 해도 천상의 맛을 낼 수 있다는 것을 증명하는 요리임.</a:t>
            </a:r>
          </a:p>
          <a:p>
            <a:pPr lvl="0"/>
            <a:r>
              <a:rPr b="1"/>
              <a:t>시선을 강탈하는 거대한 치즈 덩어리</a:t>
            </a:r>
            <a:r>
              <a:rPr/>
              <a:t>: 반으로 자른 둥근 원형 치즈가 기계 위에서 지글지글 녹는 비주얼임.</a:t>
            </a:r>
          </a:p>
          <a:p>
            <a:pPr lvl="0"/>
            <a:r>
              <a:rPr b="1"/>
              <a:t>바삭한 바게트와 꾸덕한 치즈의 조화</a:t>
            </a:r>
            <a:r>
              <a:rPr/>
              <a:t>: 갓 구운 빵 위에 담요처럼 덮인 따뜻한 치즈를 한입 베어 무는 즐거움임.</a:t>
            </a:r>
          </a:p>
          <a:p>
            <a:pPr lvl="0"/>
            <a:r>
              <a:rPr b="1"/>
              <a:t>글루바인과 어우러지는 고급스러운 맛</a:t>
            </a:r>
            <a:r>
              <a:rPr/>
              <a:t>: 따뜻한 와인 한 모금과 곁들이면 마치 고급 레스토랑에 온 듯한 기분임.</a:t>
            </a:r>
          </a:p>
          <a:p>
            <a:pPr lvl="0"/>
            <a:r>
              <a:rPr b="1"/>
              <a:t>가정에서도 즐기는 대중적인 파티 요리</a:t>
            </a:r>
            <a:r>
              <a:rPr/>
              <a:t>: 전용 그릴과 소형 삽 같은 판을 이용해 가족들이 둘러앉아 즐기는 풍습임.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11페이지: 독일 마켓 음식 (5) - 플램락스 (연어 구이)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플램락스(Flammlacks)</a:t>
            </a:r>
            <a:r>
              <a:rPr/>
              <a:t>는 화로에서 직접 구운 핀란드식 연어 요리입니다. 독일에서 생선은 상당히 비싼 식재료이기 때문에 다른 길거리 음식보다 높은 가격대를 형성하고 있습니다. 하지만 나무 판에 매달려 장작불로 구워지는 연어의 모습은 그 가격만큼의 가치를 느끼게 합니다.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상세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가격대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약 11유로 이상 (2023년 기준)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다른 음식(3~8유로) 대비 고가에 해당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연료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너도밤나무 장작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은은한 훈연 향을 입히기 위한 필수 요소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조리 환경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통유리로 된 고급스러운 부스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안전과 로맨틱한 비주얼을 동시에 확보함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나무 판에 수직으로 세워 굽는 방식</a:t>
            </a:r>
            <a:r>
              <a:rPr/>
              <a:t>: 연어를 금속이나 나무 판에 고정한 뒤 화로 주위에서 서서히 익히는 기술임.</a:t>
            </a:r>
          </a:p>
          <a:p>
            <a:pPr lvl="0"/>
            <a:r>
              <a:rPr b="1"/>
              <a:t>장작불의 온기를 이용한 정교한 기술</a:t>
            </a:r>
            <a:r>
              <a:rPr/>
              <a:t>: 불과 연어 사이의 거리와 온도를 유지하여 완벽한 화로구이를 완성함.</a:t>
            </a:r>
          </a:p>
          <a:p>
            <a:pPr lvl="0"/>
            <a:r>
              <a:rPr b="1"/>
              <a:t>럭셔리한 비주얼과 캠프파이어 분위기</a:t>
            </a:r>
            <a:r>
              <a:rPr/>
              <a:t>: 활활 타오르는 장작과 병풍처럼 둘러싸인 연어들이 장관을 연출함.</a:t>
            </a:r>
          </a:p>
          <a:p>
            <a:pPr lvl="0"/>
            <a:r>
              <a:rPr b="1"/>
              <a:t>건강을 생각하는 이들을 위한 메뉴</a:t>
            </a:r>
            <a:r>
              <a:rPr/>
              <a:t>: 오메가3가 풍부한 연어를 섭취하며 나 자신을 위한 작은 사치를 누리는 경험임.</a:t>
            </a:r>
          </a:p>
          <a:p>
            <a:pPr lvl="0"/>
            <a:r>
              <a:rPr b="1"/>
              <a:t>비 오는 날의 아쉬움과 빈대떡 생각</a:t>
            </a:r>
            <a:r>
              <a:rPr/>
              <a:t>: 날씨가 좋지 않을 때 독일의 크리스마스 마켓 음식 대신 한국 음식을 그리워함.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12페이지: 마켓의 주인공, 글뤼바인(Glühwein)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글뤼바인(Glühwein)</a:t>
            </a:r>
            <a:r>
              <a:rPr/>
              <a:t>은 와인에 시나몬, 정향, 설탕 등을 넣어 따뜻하게 데워 마시는 음료입니다. 추운 겨울 마켓을 걷는 사람들의 손에는 항상 이 따뜻한 머그컵이 들려 있습니다. 특히 매년 바뀌는 각 마켓 고유의 머그컵 디자인은 수집가들에게 큰 인기를 끎과 동시에 컵 보증금 제도인 ‘판트(Pfand)’ 문화를 보여줍니다.</a:t>
            </a:r>
          </a:p>
          <a:p>
            <a:pPr lvl="0" indent="0" marL="0">
              <a:buNone/>
            </a:pPr>
            <a:r>
              <a:rPr b="1"/>
              <a:t>[글뤼바인 즐기기 팁]</a:t>
            </a:r>
            <a:r>
              <a:rPr/>
              <a:t> </a:t>
            </a:r>
            <a:r>
              <a:rPr>
                <a:latin typeface="Courier"/>
              </a:rPr>
              <a:t>컵 보증금 지불</a:t>
            </a:r>
            <a:r>
              <a:rPr/>
              <a:t> -&gt; </a:t>
            </a:r>
            <a:r>
              <a:rPr>
                <a:latin typeface="Courier"/>
              </a:rPr>
              <a:t>따뜻한 음료 즐기기</a:t>
            </a:r>
            <a:r>
              <a:rPr/>
              <a:t> -&gt; </a:t>
            </a:r>
            <a:r>
              <a:rPr>
                <a:latin typeface="Courier"/>
              </a:rPr>
              <a:t>컵 반납(보증금 반환)</a:t>
            </a:r>
            <a:r>
              <a:rPr/>
              <a:t> or </a:t>
            </a:r>
            <a:r>
              <a:rPr>
                <a:latin typeface="Courier"/>
              </a:rPr>
              <a:t>소장(보증금 포기)</a:t>
            </a:r>
          </a:p>
          <a:p>
            <a:pPr lvl="0"/>
            <a:r>
              <a:rPr b="1"/>
              <a:t>추위를 이기게 하는 따뜻한 알코올</a:t>
            </a:r>
            <a:r>
              <a:rPr/>
              <a:t>: 차가운 공기 속에서 체온을 올려주고 마음을 여유롭게 만들어주는 필수 음료임.</a:t>
            </a:r>
          </a:p>
          <a:p>
            <a:pPr lvl="0"/>
            <a:r>
              <a:rPr b="1"/>
              <a:t>다양한 향신료의 그윽한 조화</a:t>
            </a:r>
            <a:r>
              <a:rPr/>
              <a:t>: 시나몬과 오렌지 등이 들어간 향긋한 풍미가 콧속까지 따스하게 달궈주는 역할임.</a:t>
            </a:r>
          </a:p>
          <a:p>
            <a:pPr lvl="0"/>
            <a:r>
              <a:rPr b="1"/>
              <a:t>지역별 고유 디자인의 머그컵 수집</a:t>
            </a:r>
            <a:r>
              <a:rPr/>
              <a:t>: 뉘른베르크나 드레스덴 등 각 도시의 특징이 담긴 컵을 기념품으로 소장함.</a:t>
            </a:r>
          </a:p>
          <a:p>
            <a:pPr lvl="0"/>
            <a:r>
              <a:rPr b="1"/>
              <a:t>비알코올 옵션인 킨더푼슈의 존재</a:t>
            </a:r>
            <a:r>
              <a:rPr/>
              <a:t>: 아이들이나 술을 마시지 못하는 어른들을 위한 무알코올 달콤 음료도 준비됨. (외부 지식 활용)</a:t>
            </a:r>
          </a:p>
          <a:p>
            <a:pPr lvl="0"/>
            <a:r>
              <a:rPr b="1"/>
              <a:t>글루바인과 함께 즐기는 마켓의 낭만</a:t>
            </a:r>
            <a:r>
              <a:rPr/>
              <a:t>: 김이 모락모락 나는 컵을 쥐고 화려한 조명 아래서 겨울 동화를 만끽하는 시간임.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13페이지: 전통 케이크, 슈톨렌(Stollen)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슈톨렌(Stollen)</a:t>
            </a:r>
            <a:r>
              <a:rPr/>
              <a:t>은 독일의 대표적인 크리스마스 케이크로, 건과일과 견과류, 마지팬이 듬뿍 들어간 묵직한 빵입니다. 겉에는 하얀 설탕 가루가 뿌려져 있는데, 이는 아기 예수가 강보에 싸인 모습이나 수도사의 망토 위 눈을 형상화한 것입니다. 시간이 지날수록 풍미가 깊어지는 것이 특징입니다.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상세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보관성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한 달 이상 장기 보관 가능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시간이 흐를수록 재료의 풍미가 빵에 스며듦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먹는 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가운데부터 썰어 양쪽을 붙여 보관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빵이 마르는 것을 방지하기 위한 지혜로운 방법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상징성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아기 예수를 상징하는 신성한 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크리스마스 전야에 탄생을 기념하며 가족과 나눔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브랜디에 절인 과일의 진한 풍미</a:t>
            </a:r>
            <a:r>
              <a:rPr/>
              <a:t>: 1~2년간 절인 건조 과일과 견과류가 반죽 속에 빽빽하게 들어있어 묵직함.</a:t>
            </a:r>
          </a:p>
          <a:p>
            <a:pPr lvl="0"/>
            <a:r>
              <a:rPr b="1"/>
              <a:t>고칼로리지만 포기할 수 없는 맛</a:t>
            </a:r>
            <a:r>
              <a:rPr/>
              <a:t>: 버터에 담그는 과정을 반복하여 칼로리가 높지만 그만큼 깊고 고소한 맛임.</a:t>
            </a:r>
          </a:p>
          <a:p>
            <a:pPr lvl="0"/>
            <a:r>
              <a:rPr b="1"/>
              <a:t>커피나 뱅쇼와 어우러지는 디저트</a:t>
            </a:r>
            <a:r>
              <a:rPr/>
              <a:t>: 진한 음료와 함께 먹을 때 쓴맛을 중화시키고 풍부한 식감을 선사함.</a:t>
            </a:r>
          </a:p>
          <a:p>
            <a:pPr lvl="0"/>
            <a:r>
              <a:rPr b="1"/>
              <a:t>드레스덴 슈트리첼마르크트의 자부심</a:t>
            </a:r>
            <a:r>
              <a:rPr/>
              <a:t>: 슈톨렌으로 가장 유명한 크리스마스 시장이 열릴 정도로 역사적 자부심이 큼.</a:t>
            </a:r>
          </a:p>
          <a:p>
            <a:pPr lvl="0"/>
            <a:r>
              <a:rPr b="1"/>
              <a:t>가운데부터 잘라먹는 독특한 풍습</a:t>
            </a:r>
            <a:r>
              <a:rPr/>
              <a:t>: 처음의 촉촉한 식감을 오래 유지하기 위해 양 끝을 맞붙여 밀봉하는 보관법임.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14페이지: 독일식 진저브레드, 렙쿠헨(Lebkuchen)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렙쿠헨(Lebkuchen)</a:t>
            </a:r>
            <a:r>
              <a:rPr/>
              <a:t>은 꿀, 생강, 견과류를 듬뿍 넣어 만든 독일의 전통 비스킷입니다. 중세 시대 수도원에서 병든 사람들을 위한 영양식으로 시작된 이 과자는 이제 크리스마스의 필수 아이콘이 되었습니다. 하트나 별 모양 등 화려한 장식으로 눈과 입을 동시에 사로잡습니다.</a:t>
            </a:r>
          </a:p>
          <a:p>
            <a:pPr lvl="0" indent="0" marL="0">
              <a:buNone/>
            </a:pPr>
            <a:r>
              <a:rPr b="1"/>
              <a:t>[렙쿠헨의 주요 성분]</a:t>
            </a:r>
            <a:r>
              <a:rPr/>
              <a:t> </a:t>
            </a:r>
            <a:r>
              <a:rPr>
                <a:latin typeface="Courier"/>
              </a:rPr>
              <a:t>꿀(단맛)</a:t>
            </a:r>
            <a:r>
              <a:rPr/>
              <a:t> + </a:t>
            </a:r>
            <a:r>
              <a:rPr>
                <a:latin typeface="Courier"/>
              </a:rPr>
              <a:t>생강(매콤한 향)</a:t>
            </a:r>
            <a:r>
              <a:rPr/>
              <a:t> + </a:t>
            </a:r>
            <a:r>
              <a:rPr>
                <a:latin typeface="Courier"/>
              </a:rPr>
              <a:t>견과류(고소함)</a:t>
            </a:r>
            <a:r>
              <a:rPr/>
              <a:t> + </a:t>
            </a:r>
            <a:r>
              <a:rPr>
                <a:latin typeface="Courier"/>
              </a:rPr>
              <a:t>향신료(풍미)</a:t>
            </a:r>
          </a:p>
          <a:p>
            <a:pPr lvl="0"/>
            <a:r>
              <a:rPr b="1"/>
              <a:t>중세 수도원에서 시작된 역사적 기원</a:t>
            </a:r>
            <a:r>
              <a:rPr/>
              <a:t>: 귀족들의 간식이나 치료 목적으로 사용되던 고급 음식이 대중화된 사례임.</a:t>
            </a:r>
          </a:p>
          <a:p>
            <a:pPr lvl="0"/>
            <a:r>
              <a:rPr b="1"/>
              <a:t>지역별 다양한 레시피의 발전</a:t>
            </a:r>
            <a:r>
              <a:rPr/>
              <a:t>: 16세기부터 각 지역의 특산물을 활용한 여러 변종이 등장하며 다양성을 확보함.</a:t>
            </a:r>
          </a:p>
          <a:p>
            <a:pPr lvl="0"/>
            <a:r>
              <a:rPr b="1"/>
              <a:t>오랫동안 신선하게 유지되는 저장성</a:t>
            </a:r>
            <a:r>
              <a:rPr/>
              <a:t>: 밀봉하여 보관하면 겨울 시즌 내내 두고 먹을 수 있을 정도로 보관이 용이함.</a:t>
            </a:r>
          </a:p>
          <a:p>
            <a:pPr lvl="0"/>
            <a:r>
              <a:rPr b="1"/>
              <a:t>화려한 장식으로 꾸며진 선물용 과자</a:t>
            </a:r>
            <a:r>
              <a:rPr/>
              <a:t>: 아이싱으로 아름답게 꾸며져 트리 장식이나 선물용으로도 널리 활용됨.</a:t>
            </a:r>
          </a:p>
          <a:p>
            <a:pPr lvl="0"/>
            <a:r>
              <a:rPr b="1"/>
              <a:t>부드럽고 촉촉한 식감의 매력</a:t>
            </a:r>
            <a:r>
              <a:rPr/>
              <a:t>: 밀가루와 버터의 조화로 입안에서 살살 녹는 독특한 질감을 제공함.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15페이지: 빙글빙글 도는 크리스마스 피라미드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크리스마스 피라미드(Weihnachtspyramide)</a:t>
            </a:r>
            <a:r>
              <a:rPr/>
              <a:t>는 독일 크리스마스 마켓의 중앙을 장식하는 거대한 목공예 탑입니다. 촛불의 열기로 상단의 날개가 회전하며 각 층에 장식된 인형들이 움직이는 구조입니다. 광산 지대인 에르츠 산맥 광부들의 솜씨에서 시작된 이 전통은 이제 독일 전역의 상징이 되었습니다.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구성 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역할 및 상징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상단 날개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열기를 동력으로 회전함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실외용은 전동 모터를 사용하기도 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각 층의 인형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성경 인물, 산타, 호두까기 인형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360도 방향에서 관람 가능한 장식물임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가판매 지붕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대형 피라미드 설치 장소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유동인구가 많은 광장 중앙에 위치함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광부들의 부업에서 시작된 혁신적 공예</a:t>
            </a:r>
            <a:r>
              <a:rPr/>
              <a:t>: 중세 시대 광부들이 겨울철 부업으로 만들던 작은 목공예품에서 유래함.</a:t>
            </a:r>
          </a:p>
          <a:p>
            <a:pPr lvl="0"/>
            <a:r>
              <a:rPr b="1"/>
              <a:t>동화 같은 분위기를 만드는 조연</a:t>
            </a:r>
            <a:r>
              <a:rPr/>
              <a:t>: 밤이 되면 화려한 조명과 함께 회전하며 낭만적인 풍경을 완성하는 존재임.</a:t>
            </a:r>
          </a:p>
          <a:p>
            <a:pPr lvl="0"/>
            <a:r>
              <a:rPr b="1"/>
              <a:t>미국으로 건너가 세계화된 전통</a:t>
            </a:r>
            <a:r>
              <a:rPr/>
              <a:t>: 독일 이민자들에 의해 신대륙에도 소개되어 큰 인기를 얻은 문화 수출품임.</a:t>
            </a:r>
          </a:p>
          <a:p>
            <a:pPr lvl="0"/>
            <a:r>
              <a:rPr b="1"/>
              <a:t>성탄의 인물들이 살아 움직이는 효과</a:t>
            </a:r>
            <a:r>
              <a:rPr/>
              <a:t>: 아기 예수 탄생이나 천사 인형이 천천히 돌며 트리와 같은 역할을 수행함.</a:t>
            </a:r>
          </a:p>
          <a:p>
            <a:pPr lvl="0"/>
            <a:r>
              <a:rPr b="1"/>
              <a:t>피라미드 아래서 마시는 글루바인</a:t>
            </a:r>
            <a:r>
              <a:rPr/>
              <a:t>: 거대한 피라미드를 바라보며 음료를 마시는 것은 마켓의 정석적인 코스임.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16페이지: 호두까기 인형(Nussknacker)의 역사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호두까기 인형(Nussknacker)</a:t>
            </a:r>
            <a:r>
              <a:rPr/>
              <a:t>은 1600년대 작센주 오어 산맥의 광부들이 만들기 시작한 나무 조각상입니다. 붉은 군복과 강인한 사각턱을 가진 이 인형은 원래 겨울의 어두운 시기에 악령을 물리치고 가족을 보호하기 위한 수호신 같은 존재였습니다. 이후 차이콥스키의 발레를 통해 세계적인 크리스마스 아이콘이 되었습니다.</a:t>
            </a:r>
          </a:p>
          <a:p>
            <a:pPr lvl="0" indent="0" marL="0">
              <a:buNone/>
            </a:pPr>
            <a:r>
              <a:rPr b="1"/>
              <a:t>[호두까기 인형의 계보]</a:t>
            </a:r>
            <a:r>
              <a:rPr/>
              <a:t> </a:t>
            </a:r>
            <a:r>
              <a:rPr>
                <a:latin typeface="Courier"/>
              </a:rPr>
              <a:t>오어 산맥 광부들의 목공예</a:t>
            </a:r>
            <a:r>
              <a:rPr/>
              <a:t> -&gt; </a:t>
            </a:r>
            <a:r>
              <a:rPr>
                <a:latin typeface="Courier"/>
              </a:rPr>
              <a:t>뒤마의 각색 소설</a:t>
            </a:r>
            <a:r>
              <a:rPr/>
              <a:t> -&gt; </a:t>
            </a:r>
            <a:r>
              <a:rPr>
                <a:latin typeface="Courier"/>
              </a:rPr>
              <a:t>차이콥스키의 발레</a:t>
            </a:r>
            <a:r>
              <a:rPr/>
              <a:t> -&gt; </a:t>
            </a:r>
            <a:r>
              <a:rPr>
                <a:latin typeface="Courier"/>
              </a:rPr>
              <a:t>미국 내 크리스마스 필수템</a:t>
            </a:r>
          </a:p>
          <a:p>
            <a:pPr lvl="0"/>
            <a:r>
              <a:rPr b="1"/>
              <a:t>악령을 물리치는 보호의 상징</a:t>
            </a:r>
            <a:r>
              <a:rPr/>
              <a:t>: 무서운 표정과 강인한 턱으로 겨울밤의 공포로부터 집을 지켜준다는 믿음임.</a:t>
            </a:r>
          </a:p>
          <a:p>
            <a:pPr lvl="0"/>
            <a:r>
              <a:rPr b="1"/>
              <a:t>미군 병사들을 통해 전파된 유행</a:t>
            </a:r>
            <a:r>
              <a:rPr/>
              <a:t>: 1950년대 독일 주둔 미군들이 기념품으로 가져가며 미국에서 폭발적인 인기임.</a:t>
            </a:r>
          </a:p>
          <a:p>
            <a:pPr lvl="0"/>
            <a:r>
              <a:rPr b="1"/>
              <a:t>세밀한 수작업으로 탄생하는 장인정신</a:t>
            </a:r>
            <a:r>
              <a:rPr/>
              <a:t>: 수십 명의 장인이 나무를 조각하고 조립하여 만드는 고품질의 수공예품임.</a:t>
            </a:r>
          </a:p>
          <a:p>
            <a:pPr lvl="0"/>
            <a:r>
              <a:rPr b="1"/>
              <a:t>시대의 흐름을 반영하는 디자인</a:t>
            </a:r>
            <a:r>
              <a:rPr/>
              <a:t>: 전통적인 군인 외에도 스타워즈 캐릭터, 유명 정치인 등 다양한 형태로 변주됨.</a:t>
            </a:r>
          </a:p>
          <a:p>
            <a:pPr lvl="0"/>
            <a:r>
              <a:rPr b="1"/>
              <a:t>유럽식 크리스마스를 상징하는 아이콘</a:t>
            </a:r>
            <a:r>
              <a:rPr/>
              <a:t>: 벽난로 위를 장식하는 필수 아이템으로 자리 잡으며 문화적 가치를 인정받음.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17페이지: 관세 폭풍과 호두까기 인형의 위기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최근 독일의 전통적인 </a:t>
            </a:r>
            <a:r>
              <a:rPr b="1"/>
              <a:t>호두까기 인형 제조사(슈타인바흐 등)</a:t>
            </a:r>
            <a:r>
              <a:rPr/>
              <a:t>는 미국의 관세 정책으로 인해 큰 타격을 받고 있습니다. 매출의 95%가 미국에서 발생하는 상황에서 15%의 관세와 소액면세제도 폐지는 가격 인상과 통관 지연을 초래했습니다. 그럼에도 불구하고 미국 고객들의 충성심은 여전히 높은 상황입니다.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문제 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영향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제조사의 대응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관세 부과 (15%)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제품 가격이 약 25% 상승함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미국 내 창고 건설 및 직원 채용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소액면세제도 폐지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서류 작업 증가 및 통관 지연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완제품 선적 전 보관 절차 추가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정치적 불확실성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생산 계획 수립의 어려움 발생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한정판 정치인 모델 출시 등으로 돌파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소비자 직배송 기업의 직격탄</a:t>
            </a:r>
            <a:r>
              <a:rPr/>
              <a:t>: 전자상거래 대기업을 겨냥한 정책이 틈새시장의 수공예 업체에 더 큰 피해를 줌.</a:t>
            </a:r>
          </a:p>
          <a:p>
            <a:pPr lvl="0"/>
            <a:r>
              <a:rPr b="1"/>
              <a:t>가격 인상에도 꺾이지 않는 팬덤</a:t>
            </a:r>
            <a:r>
              <a:rPr/>
              <a:t>: ’슈타인바흐’라는 브랜드에 대한 두터운 신뢰로 비싼 가격에도 구매가 지속됨.</a:t>
            </a:r>
          </a:p>
          <a:p>
            <a:pPr lvl="0"/>
            <a:r>
              <a:rPr b="1"/>
              <a:t>통관 문제를 해결하기 위한 현지화 전략</a:t>
            </a:r>
            <a:r>
              <a:rPr/>
              <a:t>: 세관 창고에 묶이는 것을 방지하기 위해 미국 현지에 물류 거점을 마련함.</a:t>
            </a:r>
          </a:p>
          <a:p>
            <a:pPr lvl="0"/>
            <a:r>
              <a:rPr b="1"/>
              <a:t>정치적 분위기에 민감한 수출 시장</a:t>
            </a:r>
            <a:r>
              <a:rPr/>
              <a:t>: 정책 변화에 따른 불안정성이 장기적인 생산 및 마케팅 전략에 우려를 줌.</a:t>
            </a:r>
          </a:p>
          <a:p>
            <a:pPr lvl="0"/>
            <a:r>
              <a:rPr b="1"/>
              <a:t>위기 속에서도 잃지 않는 유머 감각</a:t>
            </a:r>
            <a:r>
              <a:rPr/>
              <a:t>: 관세 면제 지위를 부여하는 서명 중인 대통령 인형을 한정판으로 출시함.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18페이지: 크리스마스 이브(12월 24일)의 풍경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독일의 크리스마스 정점은 </a:t>
            </a:r>
            <a:r>
              <a:rPr b="1"/>
              <a:t>12월 24일 저녁</a:t>
            </a:r>
            <a:r>
              <a:rPr/>
              <a:t>입니다. 미국과 달리 독일 아이들은 이날 저녁에 가족과 모여 선물을 개봉합니다. 전통적으로 가장이 비밀리에 트리를 장식하고 선물을 준비한 뒤, 산타가 다녀갔다며 아이들을 불러 모으는 깜짝 이벤트를 진행하기도 합니다.</a:t>
            </a:r>
          </a:p>
          <a:p>
            <a:pPr lvl="0" indent="0" marL="0">
              <a:buNone/>
            </a:pPr>
            <a:r>
              <a:rPr b="1"/>
              <a:t>[독일의 12월 24일 일정]</a:t>
            </a:r>
            <a:r>
              <a:rPr/>
              <a:t> </a:t>
            </a:r>
            <a:r>
              <a:rPr>
                <a:latin typeface="Courier"/>
              </a:rPr>
              <a:t>오후: 성탄 나무 장식 및 선물 배치</a:t>
            </a:r>
            <a:r>
              <a:rPr/>
              <a:t> -&gt; </a:t>
            </a:r>
            <a:r>
              <a:rPr>
                <a:latin typeface="Courier"/>
              </a:rPr>
              <a:t>저녁: 온 가족이 모인 특별 식사</a:t>
            </a:r>
            <a:r>
              <a:rPr/>
              <a:t> -&gt; </a:t>
            </a:r>
            <a:r>
              <a:rPr>
                <a:latin typeface="Courier"/>
              </a:rPr>
              <a:t>밤: 선물 개봉 및 대화</a:t>
            </a:r>
            <a:r>
              <a:rPr/>
              <a:t> -&gt; </a:t>
            </a:r>
            <a:r>
              <a:rPr>
                <a:latin typeface="Courier"/>
              </a:rPr>
              <a:t>자정: 성당/교회 미사 참석</a:t>
            </a:r>
          </a:p>
          <a:p>
            <a:pPr lvl="0"/>
            <a:r>
              <a:rPr b="1"/>
              <a:t>비밀리에 진행되는 나무 장식</a:t>
            </a:r>
            <a:r>
              <a:rPr/>
              <a:t>: 아이들이 보지 않는 동안 아빠가 혼자 나무를 꾸며 신비로움을 더하는 풍습임.</a:t>
            </a:r>
          </a:p>
          <a:p>
            <a:pPr lvl="0"/>
            <a:r>
              <a:rPr b="1"/>
              <a:t>가장 기다려지는 선물 개봉 시간</a:t>
            </a:r>
            <a:r>
              <a:rPr/>
              <a:t>: 25일 아침이 아닌 24일 저녁에 모든 가족이 둘러앉아 선물을 주고받음.</a:t>
            </a:r>
          </a:p>
          <a:p>
            <a:pPr lvl="0"/>
            <a:r>
              <a:rPr b="1"/>
              <a:t>가족 유대를 강화하는 특별한 식사</a:t>
            </a:r>
            <a:r>
              <a:rPr/>
              <a:t>: 칠면조 요리 등을 준비하여 온 식구가 한자리에 모여 긴 시간을 함께 보냄.</a:t>
            </a:r>
          </a:p>
          <a:p>
            <a:pPr lvl="0"/>
            <a:r>
              <a:rPr b="1"/>
              <a:t>외로운 이들에게는 힘든 시기</a:t>
            </a:r>
            <a:r>
              <a:rPr/>
              <a:t>: 모든 상점과 카페가 문을 닫고 가족 중심으로 움직여 자살 소동이 일기도 함.</a:t>
            </a:r>
          </a:p>
          <a:p>
            <a:pPr lvl="0"/>
            <a:r>
              <a:rPr b="1"/>
              <a:t>경건한 자정 미사와 종교적 의미</a:t>
            </a:r>
            <a:r>
              <a:rPr/>
              <a:t>: 평소 성당에 가지 않던 사람들도 이날만큼은 미사에 참석해 성탄을 축하함.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19페이지: 캐럴과 겨우살이 아래의 키스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독일의 크리스마스 음악은 미국식 캐럴보다는 </a:t>
            </a:r>
            <a:r>
              <a:rPr b="1"/>
              <a:t>전통적인 성가나 클래식 명곡</a:t>
            </a:r>
            <a:r>
              <a:rPr/>
              <a:t> 위주로 흐릅니다. ’기쁘다 구주 오셨네’와 같은 보편적인 멜로디가 사랑받으며, 고유의 성탄 노래들이 보편화되어 있습니다. 또한, </a:t>
            </a:r>
            <a:r>
              <a:rPr b="1"/>
              <a:t>겨우살이(Mistletoe)</a:t>
            </a:r>
            <a:r>
              <a:rPr/>
              <a:t> 아래에서의 키스는 사랑을 확인하는 낭만적인 규칙으로 통합니다.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상세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전통 캐럴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교회 성가나 클래식 기반의 노래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미국 캐럴보다 덜 신나지만 경건하고 익숙함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겨우살이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나무 밑에 서게 된 남녀는 키스해야 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사랑이 이루어진다는 믿음과 연결된 로맨틱한 규칙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성당 연주회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대림절 기간 열리는 특별 음악회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입장권을 미리 예약해야 할 정도로 인기가 높음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전통 노래에 대한 국민적 유대감</a:t>
            </a:r>
            <a:r>
              <a:rPr/>
              <a:t>: 한국의 ’고향의 봄’처럼 누구나 부를 수 있는 성탄 노래들이 사회에 깊이 뿌리박힘.</a:t>
            </a:r>
          </a:p>
          <a:p>
            <a:pPr lvl="0"/>
            <a:r>
              <a:rPr b="1"/>
              <a:t>낭만적인 마켓의 필수 요소, 키스</a:t>
            </a:r>
            <a:r>
              <a:rPr/>
              <a:t>: 천사들이 들고 있는 겨우살이 아래에서 연인들이 입맞춤하며 축복을 받음.</a:t>
            </a:r>
          </a:p>
          <a:p>
            <a:pPr lvl="0"/>
            <a:r>
              <a:rPr b="1"/>
              <a:t>종교적 엄숙함과 대중적 축제의 조화</a:t>
            </a:r>
            <a:r>
              <a:rPr/>
              <a:t>: 성당에서의 정중한 연주회와 거리의 활기찬 음악이 공존하는 시기임.</a:t>
            </a:r>
          </a:p>
          <a:p>
            <a:pPr lvl="0"/>
            <a:r>
              <a:rPr b="1"/>
              <a:t>미국 문화와의 차이점이 드러나는 지점</a:t>
            </a:r>
            <a:r>
              <a:rPr/>
              <a:t>: 단순히 즐거운 분위기보다는 오래된 기독교 국가로서의 깊이가 느껴지는 캐럴임.</a:t>
            </a:r>
          </a:p>
          <a:p>
            <a:pPr lvl="0"/>
            <a:r>
              <a:rPr b="1"/>
              <a:t>겨우살이를 통한 사랑의 증명</a:t>
            </a:r>
            <a:r>
              <a:rPr/>
              <a:t>: 우연히 나무 아래 서게 된 남녀가 키스를 나누며 인연을 맺는 흥미로운 풍습임.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20페이지: 현대의 변화와 한국과의 교류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오늘날 독일의 크리스마스 마켓은 채식 코너의 등장이나 세계 각국의 음식 도입 등 </a:t>
            </a:r>
            <a:r>
              <a:rPr b="1"/>
              <a:t>변화하는 고객의 취향에 맞춰 진화</a:t>
            </a:r>
            <a:r>
              <a:rPr/>
              <a:t>하고 있습니다. 특히 베를린과 같은 대도시에서는 한국의 김밥, 떡볶이뿐만 아니라 고품질의 </a:t>
            </a:r>
            <a:r>
              <a:rPr b="1"/>
              <a:t>한국 소주(Haru Soju)</a:t>
            </a:r>
            <a:r>
              <a:rPr/>
              <a:t>와 인삼 글루바인이 소개되며 새로운 문화적 흐름을 만들고 있습니다.</a:t>
            </a:r>
          </a:p>
          <a:p>
            <a:pPr lvl="0" indent="0" marL="0">
              <a:buNone/>
            </a:pPr>
            <a:r>
              <a:rPr b="1"/>
              <a:t>[독일 속 한국 문화 시각화]</a:t>
            </a:r>
            <a:r>
              <a:rPr/>
              <a:t> </a:t>
            </a:r>
            <a:r>
              <a:rPr>
                <a:latin typeface="Courier"/>
              </a:rPr>
              <a:t>베를린 마켓</a:t>
            </a:r>
            <a:r>
              <a:rPr/>
              <a:t> &lt;— </a:t>
            </a:r>
            <a:r>
              <a:rPr>
                <a:latin typeface="Courier"/>
              </a:rPr>
              <a:t>인삼 글루바인</a:t>
            </a:r>
            <a:r>
              <a:rPr/>
              <a:t> — </a:t>
            </a:r>
            <a:r>
              <a:rPr>
                <a:latin typeface="Courier"/>
              </a:rPr>
              <a:t>Easycookasia</a:t>
            </a:r>
            <a:r>
              <a:rPr/>
              <a:t> </a:t>
            </a:r>
            <a:r>
              <a:rPr>
                <a:latin typeface="Courier"/>
              </a:rPr>
              <a:t>쾰른 양조장</a:t>
            </a:r>
            <a:r>
              <a:rPr/>
              <a:t> — </a:t>
            </a:r>
            <a:r>
              <a:rPr>
                <a:latin typeface="Courier"/>
              </a:rPr>
              <a:t>장인 정신 소주</a:t>
            </a:r>
            <a:r>
              <a:rPr/>
              <a:t> —&gt; </a:t>
            </a:r>
            <a:r>
              <a:rPr>
                <a:latin typeface="Courier"/>
              </a:rPr>
              <a:t>Haru Soju</a:t>
            </a:r>
          </a:p>
          <a:p>
            <a:pPr lvl="0"/>
            <a:r>
              <a:rPr b="1"/>
              <a:t>채식주의와 건강을 고려한 메뉴 확대</a:t>
            </a:r>
            <a:r>
              <a:rPr/>
              <a:t>: 전통적인 기름진 음식 외에도 최근의 건강 트렌드를 반영한 코너가 생겨남.</a:t>
            </a:r>
          </a:p>
          <a:p>
            <a:pPr lvl="0"/>
            <a:r>
              <a:rPr b="1"/>
              <a:t>인터내셔널 마켓으로의 테마 다변화</a:t>
            </a:r>
            <a:r>
              <a:rPr/>
              <a:t>: 실내 마켓이나 특정 국가 테마의 마켓이 열려 볼거리가 더욱 풍성해짐.</a:t>
            </a:r>
          </a:p>
          <a:p>
            <a:pPr lvl="0"/>
            <a:r>
              <a:rPr b="1"/>
              <a:t>한국산 제품의 위상 변화와 입점</a:t>
            </a:r>
            <a:r>
              <a:rPr/>
              <a:t>: 과거 일본 브랜드 중심에서 이제는 한국 관련 상점과 제품이 눈에 띄게 늘어남.</a:t>
            </a:r>
          </a:p>
          <a:p>
            <a:pPr lvl="0"/>
            <a:r>
              <a:rPr b="1"/>
              <a:t>전통 양조 기술과 한국 소주의 결합</a:t>
            </a:r>
            <a:r>
              <a:rPr/>
              <a:t>: 독일에서 양조학을 공부한 한국인이 현지에서 직접 고품질 소주를 생산함.</a:t>
            </a:r>
          </a:p>
          <a:p>
            <a:pPr lvl="0"/>
            <a:r>
              <a:rPr b="1"/>
              <a:t>상업성을 넘어선 진정한 소확행</a:t>
            </a:r>
            <a:r>
              <a:rPr/>
              <a:t>: 화려한 소비보다는 소중한 사람들과 따뜻한 시간을 보내는 진정성 있는 계절임.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독일의 크리스마스는 마치 </a:t>
            </a:r>
            <a:r>
              <a:rPr b="1"/>
              <a:t>‘겨울잠을 자는 숲속에 피어난 따뜻한 모닥불’</a:t>
            </a:r>
            <a:r>
              <a:rPr/>
              <a:t>과 같습니다. 어둠과 추위라는 척박한 환경 속에서도 전통이라는 나무를 태워 공동체의 온기를 유지하는 그들의 모습은 우리에게 진정한 휴식과 만남의 의미를 되새기게 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2025-12-24T05:51:22Z</dcterms:created>
  <dcterms:modified xsi:type="dcterms:W3CDTF">2025-12-24T05:51:22Z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